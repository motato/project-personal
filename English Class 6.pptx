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Open Sans"/>
      <ns0:italic ns1:id="rIdFont20"/>
      <ns0:bold ns1:id="rIdFont21"/>
      <ns0:regular ns1:id="rIdFont22"/>
    </ns0:embeddedFont>
    <ns0:embeddedFont>
      <ns0:font typeface="Montserrat"/>
      <ns0:bold ns1:id="rIdFont23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d85afa6f-31b2-4a2a-b149-2a18020248f1.fntdata" /><ns0:Relationship Id="rIdFont21" Type="http://schemas.openxmlformats.org/officeDocument/2006/relationships/font" Target="fonts/8e4c6831-4eca-4c6d-af64-b00526000596.fntdata" /><ns0:Relationship Id="rIdFont22" Type="http://schemas.openxmlformats.org/officeDocument/2006/relationships/font" Target="fonts/d8baea2e-b1a7-459e-af04-b77a7329aa1a.fntdata" /><ns0:Relationship Id="rIdFont23" Type="http://schemas.openxmlformats.org/officeDocument/2006/relationships/font" Target="fonts/a48fe3d6-01c8-41f9-9c92-27efe24b49e7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0" y="3864173"/>
            <a:ext cx="762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-59531" y="2069901"/>
            <a:ext cx="12311062" cy="1508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1" sz="5400" i="0" u="none">
                <a:solidFill>
                  <a:srgbClr val="1E293B"/>
                </a:solidFill>
                <a:latin typeface="Montserrat"/>
              </a:rPr>
              <a:t>Advanced Project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59531" y="4188023"/>
            <a:ext cx="12311062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b="0" sz="2250" i="0" u="none">
                <a:solidFill>
                  <a:srgbClr val="64748B"/>
                </a:solidFill>
                <a:latin typeface="Open Sans"/>
              </a:rPr>
              <a:t>Class 6: Agile Terminology &amp; Execution Metrics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1500" y="2862262"/>
            <a:ext cx="3530649" cy="2181225"/>
          </a:xfrm>
          <a:prstGeom prst="roundRect">
            <a:avLst>
              <a:gd name="adj" fmla="val 524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30749" y="2862262"/>
            <a:ext cx="3530649" cy="2181225"/>
          </a:xfrm>
          <a:prstGeom prst="roundRect">
            <a:avLst>
              <a:gd name="adj" fmla="val 524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89999" y="2862262"/>
            <a:ext cx="3530649" cy="2181225"/>
          </a:xfrm>
          <a:prstGeom prst="roundRect">
            <a:avLst>
              <a:gd name="adj" fmla="val 524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862262"/>
            <a:ext cx="3530649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30749" y="2862262"/>
            <a:ext cx="3530649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89999" y="2862262"/>
            <a:ext cx="3530649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262312"/>
            <a:ext cx="3048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549" y="3262312"/>
            <a:ext cx="304800" cy="30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799" y="3262312"/>
            <a:ext cx="304800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571500"/>
            <a:ext cx="1162050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1E293B"/>
                </a:solidFill>
                <a:latin typeface="Montserrat"/>
              </a:rPr>
              <a:t>Class 6 Agenda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805237"/>
            <a:ext cx="383387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E293B"/>
                </a:solidFill>
                <a:latin typeface="Montserrat"/>
              </a:rPr>
              <a:t>Agile Concepts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4224337"/>
            <a:ext cx="3016299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Open Sans"/>
              </a:rPr>
              <a:t>Vocabulary for iterative workflows: Agile, Sprint, Backlog.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5549" y="3805237"/>
            <a:ext cx="383387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E293B"/>
                </a:solidFill>
                <a:latin typeface="Montserrat"/>
              </a:rPr>
              <a:t>Project Boundaries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5549" y="4224337"/>
            <a:ext cx="3016299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Open Sans"/>
              </a:rPr>
              <a:t>Defining limits and outcomes: Scope, Deliverable.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799" y="3805237"/>
            <a:ext cx="37972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E293B"/>
                </a:solidFill>
                <a:latin typeface="Montserrat"/>
              </a:rPr>
              <a:t>Tracking Progress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799" y="4224337"/>
            <a:ext cx="3016299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Open Sans"/>
              </a:rPr>
              <a:t>Measuring success: Milestone, KPI, Stakeholder.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69343" y="2585144"/>
            <a:ext cx="745331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3B82F6"/>
                </a:solidFill>
                <a:latin typeface="Open Sans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83010" y="2956619"/>
            <a:ext cx="7825978" cy="647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8FAFC"/>
                </a:solidFill>
                <a:latin typeface="Montserrat"/>
              </a:rPr>
              <a:t>The Agile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69343" y="3794819"/>
            <a:ext cx="7453312" cy="335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Open Sans"/>
              </a:rPr>
              <a:t>Modern project execution vocabulary.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1500" y="1657498"/>
            <a:ext cx="11049000" cy="1276201"/>
          </a:xfrm>
          <a:prstGeom prst="roundRect">
            <a:avLst>
              <a:gd name="adj" fmla="val 597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3314700"/>
            <a:ext cx="11049000" cy="1276201"/>
          </a:xfrm>
          <a:prstGeom prst="roundRect">
            <a:avLst>
              <a:gd name="adj" fmla="val 597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1500" y="4971901"/>
            <a:ext cx="11049000" cy="1276201"/>
          </a:xfrm>
          <a:prstGeom prst="roundRect">
            <a:avLst>
              <a:gd name="adj" fmla="val 597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1657498"/>
            <a:ext cx="38100" cy="1276201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3314700"/>
            <a:ext cx="38100" cy="1276201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4971901"/>
            <a:ext cx="38100" cy="1276201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2050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1E293B"/>
                </a:solidFill>
                <a:latin typeface="Montserrat"/>
              </a:rPr>
              <a:t>Agile &amp; Sprint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5350" y="1943248"/>
            <a:ext cx="312539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E293B"/>
                </a:solidFill>
                <a:latin typeface="Montserrat"/>
              </a:rPr>
              <a:t>Agile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943248"/>
            <a:ext cx="8534400" cy="335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Open Sans"/>
              </a:rPr>
              <a:t>A flexible, iterative approach to project management.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373659"/>
            <a:ext cx="8534400" cy="2742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1" u="none">
                <a:solidFill>
                  <a:srgbClr val="64748B"/>
                </a:solidFill>
                <a:latin typeface="Open Sans"/>
              </a:rPr>
              <a:t>"We use an Agile approach so we can adapt to client changes quickly."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50" y="3600450"/>
            <a:ext cx="312539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E293B"/>
                </a:solidFill>
                <a:latin typeface="Montserrat"/>
              </a:rPr>
              <a:t>Sprint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600450"/>
            <a:ext cx="8534400" cy="335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Open Sans"/>
              </a:rPr>
              <a:t>A short, fixed time period (usually 1-4 weeks) to complete specific tasks.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030860"/>
            <a:ext cx="8534400" cy="2742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1" u="none">
                <a:solidFill>
                  <a:srgbClr val="64748B"/>
                </a:solidFill>
                <a:latin typeface="Open Sans"/>
              </a:rPr>
              <a:t>"We need to finish the design phase in the next two-week sprint."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350" y="5257651"/>
            <a:ext cx="312539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E293B"/>
                </a:solidFill>
                <a:latin typeface="Montserrat"/>
              </a:rPr>
              <a:t>Backlog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5257651"/>
            <a:ext cx="8534400" cy="335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Open Sans"/>
              </a:rPr>
              <a:t>A prioritized list of pending tasks or requirements.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688062"/>
            <a:ext cx="8534400" cy="2742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1" u="none">
                <a:solidFill>
                  <a:srgbClr val="64748B"/>
                </a:solidFill>
                <a:latin typeface="Open Sans"/>
              </a:rPr>
              <a:t>"Let's move that low-priority feature to the project backlog."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1285875"/>
            <a:ext cx="5238750" cy="42862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285875"/>
            <a:ext cx="5238750" cy="428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249983"/>
            <a:ext cx="6875859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E293B"/>
                </a:solidFill>
                <a:latin typeface="Montserrat"/>
              </a:rPr>
              <a:t>The Agile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2859583"/>
            <a:ext cx="6262687" cy="3446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Open Sans"/>
              </a:rPr>
              <a:t>Work is pulled from the </a:t>
            </a:r>
            <a:r>
              <a:rPr b="1" sz="1650" i="0" u="none">
                <a:solidFill>
                  <a:srgbClr val="1E293B"/>
                </a:solidFill>
                <a:latin typeface="Open Sans"/>
              </a:rPr>
              <a:t>Backlog</a:t>
            </a:r>
            <a:r>
              <a:rPr b="0" sz="1650" i="0" u="none">
                <a:solidFill>
                  <a:srgbClr val="475569"/>
                </a:solidFill>
                <a:latin typeface="Open Sans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3442394"/>
            <a:ext cx="6262687" cy="3446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Open Sans"/>
              </a:rPr>
              <a:t>Tasks are executed during a short </a:t>
            </a:r>
            <a:r>
              <a:rPr b="1" sz="1650" i="0" u="none">
                <a:solidFill>
                  <a:srgbClr val="1E293B"/>
                </a:solidFill>
                <a:latin typeface="Open Sans"/>
              </a:rPr>
              <a:t>Sprint</a:t>
            </a:r>
            <a:r>
              <a:rPr b="0" sz="1650" i="0" u="none">
                <a:solidFill>
                  <a:srgbClr val="475569"/>
                </a:solidFill>
                <a:latin typeface="Open Sans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4025205"/>
            <a:ext cx="6262687" cy="3446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Open Sans"/>
              </a:rPr>
              <a:t>The </a:t>
            </a:r>
            <a:r>
              <a:rPr b="1" sz="1650" i="0" u="none">
                <a:solidFill>
                  <a:srgbClr val="1E293B"/>
                </a:solidFill>
                <a:latin typeface="Open Sans"/>
              </a:rPr>
              <a:t>Agile</a:t>
            </a:r>
            <a:r>
              <a:rPr b="0" sz="1650" i="0" u="none">
                <a:solidFill>
                  <a:srgbClr val="475569"/>
                </a:solidFill>
                <a:latin typeface="Open Sans"/>
              </a:rPr>
              <a:t> team reviews progress daily.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764333"/>
            <a:ext cx="142875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b="0" sz="3000" i="0" u="none">
                <a:solidFill>
                  <a:srgbClr val="3B82F6"/>
                </a:solidFill>
                <a:latin typeface="Open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3347144"/>
            <a:ext cx="142875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b="0" sz="3000" i="0" u="none">
                <a:solidFill>
                  <a:srgbClr val="3B82F6"/>
                </a:solidFill>
                <a:latin typeface="Open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3929955"/>
            <a:ext cx="142875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b="0" sz="3000" i="0" u="none">
                <a:solidFill>
                  <a:srgbClr val="3B82F6"/>
                </a:solidFill>
                <a:latin typeface="Open Sans"/>
              </a:rPr>
              <a:t>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57375" y="2585144"/>
            <a:ext cx="84772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3B82F6"/>
                </a:solidFill>
                <a:latin typeface="Open Sans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443" y="2956619"/>
            <a:ext cx="8901112" cy="647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8FAFC"/>
                </a:solidFill>
                <a:latin typeface="Montserrat"/>
              </a:rPr>
              <a:t>Boundaries &amp;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57375" y="3794819"/>
            <a:ext cx="8477250" cy="335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Open Sans"/>
              </a:rPr>
              <a:t>Defining what gets done and who cares.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809750"/>
            <a:ext cx="5238750" cy="4286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09750"/>
            <a:ext cx="5238750" cy="4286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1162050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1E293B"/>
                </a:solidFill>
                <a:latin typeface="Montserrat"/>
              </a:rPr>
              <a:t>Scope &amp; Deliverables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1750" y="2231975"/>
            <a:ext cx="58102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3B82F6"/>
                </a:solidFill>
                <a:latin typeface="Montserrat"/>
              </a:rPr>
              <a:t>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1750" y="2698700"/>
            <a:ext cx="533400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Open Sans"/>
              </a:rPr>
              <a:t>The defined boundaries of what the project includes (and excludes).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1750" y="3464272"/>
            <a:ext cx="5810250" cy="2742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1" u="none">
                <a:solidFill>
                  <a:srgbClr val="64748B"/>
                </a:solidFill>
                <a:latin typeface="Open Sans"/>
              </a:rPr>
              <a:t>"Adding a mobile app is outside the current project scope."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1750" y="4024312"/>
            <a:ext cx="58102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3B82F6"/>
                </a:solidFill>
                <a:latin typeface="Montserrat"/>
              </a:rPr>
              <a:t>Deliverable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1750" y="4491037"/>
            <a:ext cx="533400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Open Sans"/>
              </a:rPr>
              <a:t>A tangible output produced during or at the end of a project.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1750" y="5256609"/>
            <a:ext cx="5810250" cy="2742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1" u="none">
                <a:solidFill>
                  <a:srgbClr val="64748B"/>
                </a:solidFill>
                <a:latin typeface="Open Sans"/>
              </a:rPr>
              <a:t>"The final financial report is our main deliverable for Q3."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1500" y="2670869"/>
            <a:ext cx="6807249" cy="2564010"/>
          </a:xfrm>
          <a:prstGeom prst="roundRect">
            <a:avLst>
              <a:gd name="adj" fmla="val 4457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07349" y="2670869"/>
            <a:ext cx="4013150" cy="2564010"/>
          </a:xfrm>
          <a:prstGeom prst="roundRect">
            <a:avLst>
              <a:gd name="adj" fmla="val 4457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07349" y="2670869"/>
            <a:ext cx="4013150" cy="381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1162050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1E293B"/>
                </a:solidFill>
                <a:latin typeface="Montserrat"/>
              </a:rPr>
              <a:t>Stakeholder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670869"/>
            <a:ext cx="8934515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1E293B"/>
                </a:solidFill>
                <a:latin typeface="Montserrat"/>
              </a:rPr>
              <a:t>Who has an interest?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328094"/>
            <a:ext cx="690249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475569"/>
                </a:solidFill>
                <a:latin typeface="Open Sans"/>
              </a:rPr>
              <a:t>A </a:t>
            </a:r>
            <a:r>
              <a:rPr b="1" sz="1800" i="0" u="none">
                <a:solidFill>
                  <a:srgbClr val="475569"/>
                </a:solidFill>
                <a:latin typeface="Open Sans"/>
              </a:rPr>
              <a:t>Stakeholder</a:t>
            </a:r>
            <a:r>
              <a:rPr b="0" sz="1800" i="0" u="none">
                <a:solidFill>
                  <a:srgbClr val="475569"/>
                </a:solidFill>
                <a:latin typeface="Open Sans"/>
              </a:rPr>
              <a:t> is anyone affected by or invested in the project's outcome.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204394"/>
            <a:ext cx="8509062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1" u="none">
                <a:solidFill>
                  <a:srgbClr val="64748B"/>
                </a:solidFill>
                <a:latin typeface="Open Sans"/>
              </a:rPr>
              <a:t>"We need to present this deliverable to the key stakeholders on Friday."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12149" y="3013769"/>
            <a:ext cx="42798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Montserrat"/>
              </a:rPr>
              <a:t>Common Stakeholders: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6474" y="3393817"/>
            <a:ext cx="666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Open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3149" y="3394769"/>
            <a:ext cx="3778187" cy="274290"/>
          </a:xfrm>
          <a:prstGeom prst="rect">
            <a:avLst/>
          </a:prstGeom>
          <a:noFill/>
        </p:spPr>
        <p:txBody>
          <a:bodyPr wrap="none" lIns="66675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Open Sans"/>
              </a:rPr>
              <a:t>Clients / 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6474" y="3763357"/>
            <a:ext cx="666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Open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149" y="3764309"/>
            <a:ext cx="3778187" cy="274290"/>
          </a:xfrm>
          <a:prstGeom prst="rect">
            <a:avLst/>
          </a:prstGeom>
          <a:noFill/>
        </p:spPr>
        <p:txBody>
          <a:bodyPr wrap="none" lIns="66675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Open Sans"/>
              </a:rPr>
              <a:t>Executives (CEO, CFO)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6474" y="4132897"/>
            <a:ext cx="666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Open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149" y="4133850"/>
            <a:ext cx="3778187" cy="274290"/>
          </a:xfrm>
          <a:prstGeom prst="rect">
            <a:avLst/>
          </a:prstGeom>
          <a:noFill/>
        </p:spPr>
        <p:txBody>
          <a:bodyPr wrap="none" lIns="66675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Open Sans"/>
              </a:rPr>
              <a:t>Project Team Members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6474" y="4502437"/>
            <a:ext cx="666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Open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149" y="4503390"/>
            <a:ext cx="3778187" cy="274290"/>
          </a:xfrm>
          <a:prstGeom prst="rect">
            <a:avLst/>
          </a:prstGeom>
          <a:noFill/>
        </p:spPr>
        <p:txBody>
          <a:bodyPr wrap="none" lIns="66675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Open Sans"/>
              </a:rPr>
              <a:t>Investors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62250" y="2585144"/>
            <a:ext cx="66675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3B82F6"/>
                </a:solidFill>
                <a:latin typeface="Open Sans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95562" y="2956619"/>
            <a:ext cx="7000875" cy="647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8FAFC"/>
                </a:solidFill>
                <a:latin typeface="Montserrat"/>
              </a:rPr>
              <a:t>Measuring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62250" y="3794819"/>
            <a:ext cx="6667500" cy="335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Open Sans"/>
              </a:rPr>
              <a:t>Tracking progress accurately.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1809750"/>
            <a:ext cx="5238750" cy="4286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809750"/>
            <a:ext cx="5238750" cy="4286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1162050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1E293B"/>
                </a:solidFill>
                <a:latin typeface="Montserrat"/>
              </a:rPr>
              <a:t>Milestone &amp; KPI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040582"/>
            <a:ext cx="6875859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3B82F6"/>
                </a:solidFill>
                <a:latin typeface="Montserrat"/>
              </a:rPr>
              <a:t>Milestone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507307"/>
            <a:ext cx="533400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Open Sans"/>
              </a:rPr>
              <a:t>A key checkpoint marking significant progress in a timeline.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272879"/>
            <a:ext cx="6548437" cy="2742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1" u="none">
                <a:solidFill>
                  <a:srgbClr val="64748B"/>
                </a:solidFill>
                <a:latin typeface="Open Sans"/>
              </a:rPr>
              <a:t>"Securing funding was a major milestone for our startup."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3832919"/>
            <a:ext cx="6875859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3B82F6"/>
                </a:solidFill>
                <a:latin typeface="Montserrat"/>
              </a:rPr>
              <a:t>KPI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4299644"/>
            <a:ext cx="6548437" cy="335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Open Sans"/>
              </a:rPr>
              <a:t>Key Performance Indicator.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682430"/>
            <a:ext cx="533400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Open Sans"/>
              </a:rPr>
              <a:t>A measurable value showing effectiveness toward a goal.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5448002"/>
            <a:ext cx="6548437" cy="2742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1" u="none">
                <a:solidFill>
                  <a:srgbClr val="64748B"/>
                </a:solidFill>
                <a:latin typeface="Open Sans"/>
              </a:rPr>
              <a:t>"Our main KPI for this campaign is website traffic growth."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1500" y="2184201"/>
            <a:ext cx="11049000" cy="3537346"/>
          </a:xfrm>
          <a:prstGeom prst="roundRect">
            <a:avLst>
              <a:gd name="adj" fmla="val 323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571500"/>
            <a:ext cx="1162050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1E293B"/>
                </a:solidFill>
                <a:latin typeface="Montserrat"/>
              </a:rPr>
              <a:t>Interactive Practice: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025" y="2574726"/>
            <a:ext cx="1122997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E293B"/>
                </a:solidFill>
                <a:latin typeface="Montserrat"/>
              </a:rPr>
              <a:t>The Client Meeting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089076"/>
            <a:ext cx="112299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75569"/>
                </a:solidFill>
                <a:latin typeface="Open Sans"/>
              </a:rPr>
              <a:t>Read the paragraph and fill in the blanks using: </a:t>
            </a:r>
            <a:r>
              <a:rPr b="1" sz="1500" i="0" u="none">
                <a:solidFill>
                  <a:srgbClr val="475569"/>
                </a:solidFill>
                <a:latin typeface="Open Sans"/>
              </a:rPr>
              <a:t>Agile, Scope, Deliverable, Milestone, Stakeholders.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679626"/>
            <a:ext cx="10363200" cy="1508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b="0" sz="1650" i="0" u="none">
                <a:solidFill>
                  <a:srgbClr val="1E293B"/>
                </a:solidFill>
                <a:latin typeface="Open Sans"/>
              </a:rPr>
              <a:t>"Good morning. Today we are presenting the final design mockup, which is our primary ________ for this month. Reaching this design approval is a major ________ for the project. Moving forward, we will use an ________ approach, working in two-week sprints. Please note that adding new features now would change the project ________. We need all key ________ to sign off before we proceed."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0603" y="2770882"/>
            <a:ext cx="6350793" cy="647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8FAFC"/>
                </a:solidFill>
                <a:latin typeface="Montserrat"/>
              </a:rP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71812" y="3609082"/>
            <a:ext cx="6048375" cy="335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Open Sans"/>
              </a:rPr>
              <a:t>Review your notes and practice these terms daily.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43000" y="1781175"/>
            <a:ext cx="99060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" y="2190750"/>
            <a:ext cx="9906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975520"/>
            <a:ext cx="9906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2965995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3000" y="2965995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3750766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3750766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340173"/>
            <a:ext cx="857250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124944"/>
            <a:ext cx="857250" cy="4762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008834"/>
            <a:ext cx="857250" cy="47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43000" y="1143000"/>
            <a:ext cx="10501312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1E293B"/>
                </a:solidFill>
                <a:latin typeface="Montserrat"/>
              </a:rPr>
              <a:t>Image 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38375" y="2333625"/>
            <a:ext cx="6750843" cy="1980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475569"/>
                </a:solidFill>
                <a:latin typeface="Open Sans"/>
              </a:rPr>
              <a:t>https://blog.socketsandlightbulbs.com/wp-content/uploads/2012/02/scrum-board-example.jpg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38375" y="2579340"/>
            <a:ext cx="3524250" cy="2437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Open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Open Sans"/>
              </a:rPr>
              <a:t>blog.socketsandlightbulbs.com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38375" y="3118395"/>
            <a:ext cx="8870156" cy="1980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475569"/>
                </a:solidFill>
                <a:latin typeface="Open Sans"/>
              </a:rPr>
              <a:t>https://www.slidekit.com/wp-content/uploads/2025/01/Zig-Zag-Timeline-Roadmap-with-Milestones-PowerPoint-Template.jpg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38375" y="3364110"/>
            <a:ext cx="2274093" cy="2437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Open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Open Sans"/>
              </a:rPr>
              <a:t>www.slidekit.com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38375" y="3903166"/>
            <a:ext cx="890587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475569"/>
                </a:solidFill>
                <a:latin typeface="Open Sans"/>
              </a:rPr>
              <a:t>https://stg-uploads.slidenest.com/template_4410/templateColor_4149/previewImages/business-kpi-metrics-dashboard-powerpoint-google-slides-keynote-presentation-template-1.jpeg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38375" y="4346971"/>
            <a:ext cx="1976437" cy="2437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Open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Open Sans"/>
              </a:rPr>
              <a:t>slidenest.com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