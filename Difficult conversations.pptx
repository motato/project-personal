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</ns0:sldIdLst>
  <ns0:sldSz cx="12192000" cy="6858000" type="screen4x3"/>
  <ns0:notesSz cx="6858000" cy="9144000"/>
  <ns0:embeddedFontLst>
    <ns0:embeddedFont>
      <ns0:font typeface="Quicksand"/>
      <ns0:italic ns1:id="rIdFont21"/>
      <ns0:bold ns1:id="rIdFont22"/>
      <ns0:regular ns1:id="rIdFont23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Font21" Type="http://schemas.openxmlformats.org/officeDocument/2006/relationships/font" Target="fonts/06d58a37-86d3-4a80-ac83-48da45caf992.fntdata" /><ns0:Relationship Id="rIdFont22" Type="http://schemas.openxmlformats.org/officeDocument/2006/relationships/font" Target="fonts/ab86da11-90ae-4c66-a778-c9558aab8320.fntdata" /><ns0:Relationship Id="rIdFont23" Type="http://schemas.openxmlformats.org/officeDocument/2006/relationships/font" Target="fonts/dcf50aa1-844f-4e75-8014-2e5183bfd41d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0"/>
            <a:ext cx="5334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0"/>
            <a:ext cx="5334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894730"/>
            <a:ext cx="66675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C2410C"/>
                </a:solidFill>
                <a:latin typeface="Quicksand"/>
              </a:rPr>
              <a:t>COMMUNICATION TOOLKIT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266205"/>
            <a:ext cx="5700712" cy="1508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940"/>
              </a:lnSpc>
            </a:pPr>
            <a:r>
              <a:rPr b="1" sz="5400" i="0" u="none">
                <a:solidFill>
                  <a:srgbClr val="431407"/>
                </a:solidFill>
                <a:latin typeface="Quicksand"/>
              </a:rPr>
              <a:t>The STAR</a:t>
            </a:r>
            <a:r>
              <a:t>
</a:t>
            </a:r>
            <a:r>
              <a:rPr b="1" sz="5400" i="0" u="none">
                <a:solidFill>
                  <a:srgbClr val="431407"/>
                </a:solidFill>
                <a:latin typeface="Quicksand"/>
              </a:rPr>
              <a:t>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4003327"/>
            <a:ext cx="3905250" cy="959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666666"/>
                </a:solidFill>
                <a:latin typeface="Quicksand"/>
              </a:rPr>
              <a:t>A structured approach to navigating conflict and giving constructive feedback.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4108" y="2402234"/>
            <a:ext cx="10263782" cy="1462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b="1" sz="4800" i="0" u="none">
                <a:solidFill>
                  <a:srgbClr val="C2410C"/>
                </a:solidFill>
                <a:latin typeface="Quicksand"/>
              </a:rPr>
              <a:t>Facts</a:t>
            </a:r>
            <a:r>
              <a:rPr b="1" sz="4800" i="0" u="none">
                <a:solidFill>
                  <a:srgbClr val="431407"/>
                </a:solidFill>
                <a:latin typeface="Quicksand"/>
              </a:rPr>
              <a:t> over feelings.</a:t>
            </a:r>
            <a:r>
              <a:t>
</a:t>
            </a:r>
            <a:r>
              <a:rPr b="1" sz="4800" i="0" u="none">
                <a:solidFill>
                  <a:srgbClr val="1E3A8A"/>
                </a:solidFill>
                <a:latin typeface="Quicksand"/>
              </a:rPr>
              <a:t>Requests</a:t>
            </a:r>
            <a:r>
              <a:rPr b="1" sz="4800" i="0" u="none">
                <a:solidFill>
                  <a:srgbClr val="431407"/>
                </a:solidFill>
                <a:latin typeface="Quicksand"/>
              </a:rPr>
              <a:t> over complaints.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7609" y="4170015"/>
            <a:ext cx="8536781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666666"/>
                </a:solidFill>
                <a:latin typeface="Quicksand"/>
              </a:rPr>
              <a:t>Shifting from retrospective blame to forward-looking alignment.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843212"/>
            <a:ext cx="2438400" cy="210502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505200" y="2733675"/>
            <a:ext cx="2438400" cy="232410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48400" y="2733675"/>
            <a:ext cx="2438400" cy="232410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91600" y="2733675"/>
            <a:ext cx="2438400" cy="232410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762000"/>
            <a:ext cx="11430000" cy="476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431407"/>
                </a:solidFill>
                <a:latin typeface="Quicksand"/>
              </a:rPr>
              <a:t>The Core Components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224212"/>
            <a:ext cx="2200275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C2410C"/>
                </a:solidFill>
                <a:latin typeface="Quicksand"/>
              </a:rPr>
              <a:t>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948112"/>
            <a:ext cx="22002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431407"/>
                </a:solidFill>
                <a:latin typeface="Quicksand"/>
              </a:rPr>
              <a:t>Situation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348162"/>
            <a:ext cx="20955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66666"/>
                </a:solidFill>
                <a:latin typeface="Quicksand"/>
              </a:rPr>
              <a:t>State objective facts.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3114675"/>
            <a:ext cx="2200275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C2410C"/>
                </a:solidFill>
                <a:latin typeface="Quicksand"/>
              </a:rPr>
              <a:t>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3838575"/>
            <a:ext cx="22002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431407"/>
                </a:solidFill>
                <a:latin typeface="Quicksand"/>
              </a:rPr>
              <a:t>Thoughts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4238625"/>
            <a:ext cx="17716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66666"/>
                </a:solidFill>
                <a:latin typeface="Quicksand"/>
              </a:rPr>
              <a:t>Share personal impact.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114675"/>
            <a:ext cx="2200275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1E3A8A"/>
                </a:solidFill>
                <a:latin typeface="Quicksand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838575"/>
            <a:ext cx="22002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431407"/>
                </a:solidFill>
                <a:latin typeface="Quicksand"/>
              </a:rPr>
              <a:t>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4238625"/>
            <a:ext cx="17716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66666"/>
                </a:solidFill>
                <a:latin typeface="Quicksand"/>
              </a:rPr>
              <a:t>Request future action.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3114675"/>
            <a:ext cx="2200275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1E3A8A"/>
                </a:solidFill>
                <a:latin typeface="Quicksand"/>
              </a:rPr>
              <a:t>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3838575"/>
            <a:ext cx="22002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431407"/>
                </a:solidFill>
                <a:latin typeface="Quicksand"/>
              </a:rPr>
              <a:t>Resolution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4238625"/>
            <a:ext cx="17716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66666"/>
                </a:solidFill>
                <a:latin typeface="Quicksand"/>
              </a:rPr>
              <a:t>Confirm mutual agreement.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05500" y="2011858"/>
            <a:ext cx="5524500" cy="2834282"/>
          </a:xfrm>
          <a:prstGeom prst="roundRect">
            <a:avLst>
              <a:gd name="adj" fmla="val 537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05500" y="2011858"/>
            <a:ext cx="76200" cy="283428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900" y="2526208"/>
            <a:ext cx="200025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900" y="3120479"/>
            <a:ext cx="200025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900" y="3714750"/>
            <a:ext cx="200025" cy="24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2247900"/>
            <a:ext cx="5950743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b="1" sz="7200" i="0" u="none">
                <a:solidFill>
                  <a:srgbClr val="C2410C"/>
                </a:solidFill>
                <a:latin typeface="Quicksand"/>
              </a:rPr>
              <a:t>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314700"/>
            <a:ext cx="5950743" cy="476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431407"/>
                </a:solidFill>
                <a:latin typeface="Quicksand"/>
              </a:rPr>
              <a:t>Situation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019550"/>
            <a:ext cx="56673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666666"/>
                </a:solidFill>
                <a:latin typeface="Quicksand"/>
              </a:rPr>
              <a:t>Establish the observable reality.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8900" y="2469058"/>
            <a:ext cx="5667375" cy="365670"/>
          </a:xfrm>
          <a:prstGeom prst="rect">
            <a:avLst/>
          </a:prstGeom>
          <a:noFill/>
        </p:spPr>
        <p:txBody>
          <a:bodyPr wrap="none" lIns="352425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1800" i="0" u="none">
                <a:solidFill>
                  <a:srgbClr val="431407"/>
                </a:solidFill>
                <a:latin typeface="Quicksand"/>
              </a:rPr>
              <a:t>Camera check:</a:t>
            </a:r>
            <a:r>
              <a:rPr b="0" sz="1800" i="0" u="none">
                <a:solidFill>
                  <a:srgbClr val="431407"/>
                </a:solidFill>
                <a:latin typeface="Quicksand"/>
              </a:rPr>
              <a:t> Only state visible facts.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8900" y="3063329"/>
            <a:ext cx="5667375" cy="365670"/>
          </a:xfrm>
          <a:prstGeom prst="rect">
            <a:avLst/>
          </a:prstGeom>
          <a:noFill/>
        </p:spPr>
        <p:txBody>
          <a:bodyPr wrap="none" lIns="352425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1800" i="0" u="none">
                <a:solidFill>
                  <a:srgbClr val="431407"/>
                </a:solidFill>
                <a:latin typeface="Quicksand"/>
              </a:rPr>
              <a:t>No adjectives:</a:t>
            </a:r>
            <a:r>
              <a:rPr b="0" sz="1800" i="0" u="none">
                <a:solidFill>
                  <a:srgbClr val="431407"/>
                </a:solidFill>
                <a:latin typeface="Quicksand"/>
              </a:rPr>
              <a:t> Remove judgments.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8900" y="3657600"/>
            <a:ext cx="4629150" cy="731341"/>
          </a:xfrm>
          <a:prstGeom prst="rect">
            <a:avLst/>
          </a:prstGeom>
          <a:noFill/>
        </p:spPr>
        <p:txBody>
          <a:bodyPr wrap="square" lIns="352425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1800" i="0" u="none">
                <a:solidFill>
                  <a:srgbClr val="431407"/>
                </a:solidFill>
                <a:latin typeface="Quicksand"/>
              </a:rPr>
              <a:t>Specific timing:</a:t>
            </a:r>
            <a:r>
              <a:rPr b="0" sz="1800" i="0" u="none">
                <a:solidFill>
                  <a:srgbClr val="431407"/>
                </a:solidFill>
                <a:latin typeface="Quicksand"/>
              </a:rPr>
              <a:t> Reference exact moments.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05500" y="1828948"/>
            <a:ext cx="5524500" cy="3199953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05500" y="1828948"/>
            <a:ext cx="76200" cy="3199953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900" y="2343298"/>
            <a:ext cx="200025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900" y="2937569"/>
            <a:ext cx="200025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900" y="3897510"/>
            <a:ext cx="200025" cy="24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2247751"/>
            <a:ext cx="5950743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b="1" sz="7200" i="0" u="none">
                <a:solidFill>
                  <a:srgbClr val="C2410C"/>
                </a:solidFill>
                <a:latin typeface="Quicksand"/>
              </a:rPr>
              <a:t>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314551"/>
            <a:ext cx="5950743" cy="476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431407"/>
                </a:solidFill>
                <a:latin typeface="Quicksand"/>
              </a:rPr>
              <a:t>Thoughts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019401"/>
            <a:ext cx="56673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666666"/>
                </a:solidFill>
                <a:latin typeface="Quicksand"/>
              </a:rPr>
              <a:t>Share your internal perspective.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8900" y="2286148"/>
            <a:ext cx="5667375" cy="365670"/>
          </a:xfrm>
          <a:prstGeom prst="rect">
            <a:avLst/>
          </a:prstGeom>
          <a:noFill/>
        </p:spPr>
        <p:txBody>
          <a:bodyPr wrap="none" lIns="352425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1800" i="0" u="none">
                <a:solidFill>
                  <a:srgbClr val="431407"/>
                </a:solidFill>
                <a:latin typeface="Quicksand"/>
              </a:rPr>
              <a:t>Own it:</a:t>
            </a:r>
            <a:r>
              <a:rPr b="0" sz="1800" i="0" u="none">
                <a:solidFill>
                  <a:srgbClr val="431407"/>
                </a:solidFill>
                <a:latin typeface="Quicksand"/>
              </a:rPr>
              <a:t> Use "I" statements.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8900" y="2880419"/>
            <a:ext cx="4629150" cy="731341"/>
          </a:xfrm>
          <a:prstGeom prst="rect">
            <a:avLst/>
          </a:prstGeom>
          <a:noFill/>
        </p:spPr>
        <p:txBody>
          <a:bodyPr wrap="square" lIns="352425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1800" i="0" u="none">
                <a:solidFill>
                  <a:srgbClr val="431407"/>
                </a:solidFill>
                <a:latin typeface="Quicksand"/>
              </a:rPr>
              <a:t>Impact focus:</a:t>
            </a:r>
            <a:r>
              <a:rPr b="0" sz="1800" i="0" u="none">
                <a:solidFill>
                  <a:srgbClr val="431407"/>
                </a:solidFill>
                <a:latin typeface="Quicksand"/>
              </a:rPr>
              <a:t> Explain operational delays.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8900" y="3840360"/>
            <a:ext cx="4629150" cy="731341"/>
          </a:xfrm>
          <a:prstGeom prst="rect">
            <a:avLst/>
          </a:prstGeom>
          <a:noFill/>
        </p:spPr>
        <p:txBody>
          <a:bodyPr wrap="square" lIns="352425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1800" i="0" u="none">
                <a:solidFill>
                  <a:srgbClr val="431407"/>
                </a:solidFill>
                <a:latin typeface="Quicksand"/>
              </a:rPr>
              <a:t>Emotional honesty:</a:t>
            </a:r>
            <a:r>
              <a:rPr b="0" sz="1800" i="0" u="none">
                <a:solidFill>
                  <a:srgbClr val="431407"/>
                </a:solidFill>
                <a:latin typeface="Quicksand"/>
              </a:rPr>
              <a:t> Share feelings cleanly.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05500" y="1828948"/>
            <a:ext cx="5524500" cy="3199953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05500" y="1828948"/>
            <a:ext cx="76200" cy="3199953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900" y="2343298"/>
            <a:ext cx="200025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900" y="3303240"/>
            <a:ext cx="200025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900" y="4263181"/>
            <a:ext cx="200025" cy="24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2247751"/>
            <a:ext cx="5950743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b="1" sz="7200" i="0" u="none">
                <a:solidFill>
                  <a:srgbClr val="1E3A8A"/>
                </a:solidFill>
                <a:latin typeface="Quicksand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314551"/>
            <a:ext cx="5950743" cy="476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431407"/>
                </a:solidFill>
                <a:latin typeface="Quicksand"/>
              </a:rPr>
              <a:t>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019401"/>
            <a:ext cx="56673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666666"/>
                </a:solidFill>
                <a:latin typeface="Quicksand"/>
              </a:rPr>
              <a:t>Chart the path forward.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8900" y="2286148"/>
            <a:ext cx="4629150" cy="731341"/>
          </a:xfrm>
          <a:prstGeom prst="rect">
            <a:avLst/>
          </a:prstGeom>
          <a:noFill/>
        </p:spPr>
        <p:txBody>
          <a:bodyPr wrap="square" lIns="352425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1800" i="0" u="none">
                <a:solidFill>
                  <a:srgbClr val="431407"/>
                </a:solidFill>
                <a:latin typeface="Quicksand"/>
              </a:rPr>
              <a:t>Actionable:</a:t>
            </a:r>
            <a:r>
              <a:rPr b="0" sz="1800" i="0" u="none">
                <a:solidFill>
                  <a:srgbClr val="431407"/>
                </a:solidFill>
                <a:latin typeface="Quicksand"/>
              </a:rPr>
              <a:t> Request specific behaviors.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8900" y="3246090"/>
            <a:ext cx="4629150" cy="731341"/>
          </a:xfrm>
          <a:prstGeom prst="rect">
            <a:avLst/>
          </a:prstGeom>
          <a:noFill/>
        </p:spPr>
        <p:txBody>
          <a:bodyPr wrap="square" lIns="352425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1800" i="0" u="none">
                <a:solidFill>
                  <a:srgbClr val="431407"/>
                </a:solidFill>
                <a:latin typeface="Quicksand"/>
              </a:rPr>
              <a:t>Future focus:</a:t>
            </a:r>
            <a:r>
              <a:rPr b="0" sz="1800" i="0" u="none">
                <a:solidFill>
                  <a:srgbClr val="431407"/>
                </a:solidFill>
                <a:latin typeface="Quicksand"/>
              </a:rPr>
              <a:t> Do not demand apologies.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8900" y="4206031"/>
            <a:ext cx="5667375" cy="365670"/>
          </a:xfrm>
          <a:prstGeom prst="rect">
            <a:avLst/>
          </a:prstGeom>
          <a:noFill/>
        </p:spPr>
        <p:txBody>
          <a:bodyPr wrap="none" lIns="352425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1800" i="0" u="none">
                <a:solidFill>
                  <a:srgbClr val="431407"/>
                </a:solidFill>
                <a:latin typeface="Quicksand"/>
              </a:rPr>
              <a:t>Attainable:</a:t>
            </a:r>
            <a:r>
              <a:rPr b="0" sz="1800" i="0" u="none">
                <a:solidFill>
                  <a:srgbClr val="431407"/>
                </a:solidFill>
                <a:latin typeface="Quicksand"/>
              </a:rPr>
              <a:t> Make it a realistic shift.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05500" y="1828948"/>
            <a:ext cx="5524500" cy="3199953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05500" y="1828948"/>
            <a:ext cx="76200" cy="3199953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900" y="2343298"/>
            <a:ext cx="285750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900" y="2937569"/>
            <a:ext cx="285750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900" y="3897510"/>
            <a:ext cx="285750" cy="24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2247751"/>
            <a:ext cx="5950743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b="1" sz="7200" i="0" u="none">
                <a:solidFill>
                  <a:srgbClr val="1E3A8A"/>
                </a:solidFill>
                <a:latin typeface="Quicksand"/>
              </a:rPr>
              <a:t>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314551"/>
            <a:ext cx="5950743" cy="476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431407"/>
                </a:solidFill>
                <a:latin typeface="Quicksand"/>
              </a:rPr>
              <a:t>Resolution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019401"/>
            <a:ext cx="56673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666666"/>
                </a:solidFill>
                <a:latin typeface="Quicksand"/>
              </a:rPr>
              <a:t>Secure mutual agreement.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8900" y="2286148"/>
            <a:ext cx="5667375" cy="365670"/>
          </a:xfrm>
          <a:prstGeom prst="rect">
            <a:avLst/>
          </a:prstGeom>
          <a:noFill/>
        </p:spPr>
        <p:txBody>
          <a:bodyPr wrap="none" lIns="43815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1800" i="0" u="none">
                <a:solidFill>
                  <a:srgbClr val="431407"/>
                </a:solidFill>
                <a:latin typeface="Quicksand"/>
              </a:rPr>
              <a:t>Verbalized:</a:t>
            </a:r>
            <a:r>
              <a:rPr b="0" sz="1800" i="0" u="none">
                <a:solidFill>
                  <a:srgbClr val="431407"/>
                </a:solidFill>
                <a:latin typeface="Quicksand"/>
              </a:rPr>
              <a:t> Get a clear "yes."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8900" y="2880419"/>
            <a:ext cx="4629150" cy="731341"/>
          </a:xfrm>
          <a:prstGeom prst="rect">
            <a:avLst/>
          </a:prstGeom>
          <a:noFill/>
        </p:spPr>
        <p:txBody>
          <a:bodyPr wrap="square" lIns="43815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1800" i="0" u="none">
                <a:solidFill>
                  <a:srgbClr val="431407"/>
                </a:solidFill>
                <a:latin typeface="Quicksand"/>
              </a:rPr>
              <a:t>Shared commitment:</a:t>
            </a:r>
            <a:r>
              <a:rPr b="0" sz="1800" i="0" u="none">
                <a:solidFill>
                  <a:srgbClr val="431407"/>
                </a:solidFill>
                <a:latin typeface="Quicksand"/>
              </a:rPr>
              <a:t> Both sides agree.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8900" y="3840360"/>
            <a:ext cx="4629150" cy="731341"/>
          </a:xfrm>
          <a:prstGeom prst="rect">
            <a:avLst/>
          </a:prstGeom>
          <a:noFill/>
        </p:spPr>
        <p:txBody>
          <a:bodyPr wrap="square" lIns="43815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1800" i="0" u="none">
                <a:solidFill>
                  <a:srgbClr val="431407"/>
                </a:solidFill>
                <a:latin typeface="Quicksand"/>
              </a:rPr>
              <a:t>Accountability:</a:t>
            </a:r>
            <a:r>
              <a:rPr b="0" sz="1800" i="0" u="none">
                <a:solidFill>
                  <a:srgbClr val="431407"/>
                </a:solidFill>
                <a:latin typeface="Quicksand"/>
              </a:rPr>
              <a:t> Foundation for future checks.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7056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0"/>
            <a:ext cx="54864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1790700"/>
            <a:ext cx="72009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431407"/>
                </a:solidFill>
                <a:latin typeface="Quicksand"/>
              </a:rPr>
              <a:t>Professional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552700"/>
            <a:ext cx="72009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C2410C"/>
                </a:solidFill>
                <a:latin typeface="Quicksand"/>
              </a:rPr>
              <a:t>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743200"/>
            <a:ext cx="68580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431407"/>
                </a:solidFill>
                <a:latin typeface="Quicksand"/>
              </a:rPr>
              <a:t>Dashboard included unrequested features.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238500"/>
            <a:ext cx="72009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C2410C"/>
                </a:solidFill>
                <a:latin typeface="Quicksand"/>
              </a:rPr>
              <a:t>THOUGHTS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429000"/>
            <a:ext cx="68580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431407"/>
                </a:solidFill>
                <a:latin typeface="Quicksand"/>
              </a:rPr>
              <a:t>Delayed core metrics reporting to client.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924300"/>
            <a:ext cx="72009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3A8A"/>
                </a:solidFill>
                <a:latin typeface="Quicksand"/>
              </a:rPr>
              <a:t>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114800"/>
            <a:ext cx="68580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431407"/>
                </a:solidFill>
                <a:latin typeface="Quicksand"/>
              </a:rPr>
              <a:t>Deliver agreed sprint scope first.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610100"/>
            <a:ext cx="72009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3A8A"/>
                </a:solidFill>
                <a:latin typeface="Quicksand"/>
              </a:rPr>
              <a:t>RESOLUTION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800600"/>
            <a:ext cx="68580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431407"/>
                </a:solidFill>
                <a:latin typeface="Quicksand"/>
              </a:rPr>
              <a:t>New feature ideas moved to backlog.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0" y="0"/>
            <a:ext cx="67056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0" y="1790700"/>
            <a:ext cx="6096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431407"/>
                </a:solidFill>
                <a:latin typeface="Quicksand"/>
              </a:rPr>
              <a:t>Personal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0" y="2552700"/>
            <a:ext cx="6096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C2410C"/>
                </a:solidFill>
                <a:latin typeface="Quicksand"/>
              </a:rPr>
              <a:t>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0" y="2743200"/>
            <a:ext cx="60960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431407"/>
                </a:solidFill>
                <a:latin typeface="Quicksand"/>
              </a:rPr>
              <a:t>Phones used frequently during dinner.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0" y="3238500"/>
            <a:ext cx="6096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C2410C"/>
                </a:solidFill>
                <a:latin typeface="Quicksand"/>
              </a:rPr>
              <a:t>THOUGHTS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0" y="3429000"/>
            <a:ext cx="60960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431407"/>
                </a:solidFill>
                <a:latin typeface="Quicksand"/>
              </a:rPr>
              <a:t>Felt disconnected and ignored.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0" y="3924300"/>
            <a:ext cx="6096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3A8A"/>
                </a:solidFill>
                <a:latin typeface="Quicksand"/>
              </a:rPr>
              <a:t>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0" y="4114800"/>
            <a:ext cx="60960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431407"/>
                </a:solidFill>
                <a:latin typeface="Quicksand"/>
              </a:rPr>
              <a:t>Keep phones away for 30 minutes.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0" y="4610100"/>
            <a:ext cx="6096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3A8A"/>
                </a:solidFill>
                <a:latin typeface="Quicksand"/>
              </a:rPr>
              <a:t>RESOLUTION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0" y="4800600"/>
            <a:ext cx="60960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431407"/>
                </a:solidFill>
                <a:latin typeface="Quicksand"/>
              </a:rPr>
              <a:t>Agreed to device-free evening meals.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7056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0"/>
            <a:ext cx="54864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2050" y="2667000"/>
            <a:ext cx="1333500" cy="152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1657350"/>
            <a:ext cx="72009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431407"/>
                </a:solidFill>
                <a:latin typeface="Quicksand"/>
              </a:rPr>
              <a:t>Missed Commitments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419350"/>
            <a:ext cx="72009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C2410C"/>
                </a:solidFill>
                <a:latin typeface="Quicksand"/>
              </a:rPr>
              <a:t>SITUATION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609850"/>
            <a:ext cx="55816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431407"/>
                </a:solidFill>
                <a:latin typeface="Quicksand"/>
              </a:rPr>
              <a:t>Data sets arrived two days late for the last three milestones.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371850"/>
            <a:ext cx="72009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C2410C"/>
                </a:solidFill>
                <a:latin typeface="Quicksand"/>
              </a:rPr>
              <a:t>THOUGHTS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562350"/>
            <a:ext cx="68580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431407"/>
                </a:solidFill>
                <a:latin typeface="Quicksand"/>
              </a:rPr>
              <a:t>Felt stressed; timeline for analysis was compressed.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057650"/>
            <a:ext cx="72009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3A8A"/>
                </a:solidFill>
                <a:latin typeface="Quicksand"/>
              </a:rPr>
              <a:t>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248150"/>
            <a:ext cx="68580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431407"/>
                </a:solidFill>
                <a:latin typeface="Quicksand"/>
              </a:rPr>
              <a:t>Notify me 48 hours in advance if a deadline is at risk.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743450"/>
            <a:ext cx="72009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3A8A"/>
                </a:solidFill>
                <a:latin typeface="Quicksand"/>
              </a:rPr>
              <a:t>RESOLUTION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933950"/>
            <a:ext cx="68580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431407"/>
                </a:solidFill>
                <a:latin typeface="Quicksand"/>
              </a:rPr>
              <a:t>Agreed to proactively communicate delays.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0" y="0"/>
            <a:ext cx="67056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0" y="2667000"/>
            <a:ext cx="1524000" cy="152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0" y="1657350"/>
            <a:ext cx="6096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431407"/>
                </a:solidFill>
                <a:latin typeface="Quicksand"/>
              </a:rPr>
              <a:t>Escalated Emotions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0" y="2419350"/>
            <a:ext cx="6096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C2410C"/>
                </a:solidFill>
                <a:latin typeface="Quicksand"/>
              </a:rPr>
              <a:t>SITUATION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0" y="2609850"/>
            <a:ext cx="60960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431407"/>
                </a:solidFill>
                <a:latin typeface="Quicksand"/>
              </a:rPr>
              <a:t>Voice raised; proposal called 'ridiculous' in client meeting.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0" y="3105150"/>
            <a:ext cx="6096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C2410C"/>
                </a:solidFill>
                <a:latin typeface="Quicksand"/>
              </a:rPr>
              <a:t>THOUGHTS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0" y="3295650"/>
            <a:ext cx="60960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431407"/>
                </a:solidFill>
                <a:latin typeface="Quicksand"/>
              </a:rPr>
              <a:t>Felt undermined; damaged our united team front.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0" y="3790950"/>
            <a:ext cx="6096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3A8A"/>
                </a:solidFill>
                <a:latin typeface="Quicksand"/>
              </a:rPr>
              <a:t>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0" y="3981450"/>
            <a:ext cx="55816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431407"/>
                </a:solidFill>
                <a:latin typeface="Quicksand"/>
              </a:rPr>
              <a:t>Hold critiques for internal debriefs or phrase as questions.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0" y="4743450"/>
            <a:ext cx="6096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3A8A"/>
                </a:solidFill>
                <a:latin typeface="Quicksand"/>
              </a:rPr>
              <a:t>RESOLUTION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0" y="4933950"/>
            <a:ext cx="60960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431407"/>
                </a:solidFill>
                <a:latin typeface="Quicksand"/>
              </a:rPr>
              <a:t>Apologized; agreed to save critiques for internal review.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241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2331839"/>
            <a:ext cx="762000" cy="60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5375" y="3246239"/>
            <a:ext cx="10001250" cy="1279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b="1" sz="4200" i="0" u="none">
                <a:solidFill>
                  <a:srgbClr val="FAF9F6"/>
                </a:solidFill>
                <a:latin typeface="Quicksand"/>
              </a:rPr>
              <a:t>Better conversations start with clear structure.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476375"/>
            <a:ext cx="11430000" cy="476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1E3A8A"/>
                </a:solidFill>
                <a:latin typeface="Quicksand"/>
              </a:rPr>
              <a:t>Key Influences &amp;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409825"/>
            <a:ext cx="103822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500" i="0" u="none">
                <a:solidFill>
                  <a:srgbClr val="666666"/>
                </a:solidFill>
                <a:latin typeface="Quicksand"/>
              </a:rPr>
              <a:t>Center for Creative Leadership. (n.d.). </a:t>
            </a:r>
            <a:r>
              <a:rPr b="0" sz="1500" i="1" u="none">
                <a:solidFill>
                  <a:srgbClr val="666666"/>
                </a:solidFill>
                <a:latin typeface="Quicksand"/>
              </a:rPr>
              <a:t>The Situation-Behavior-Impact (SBI) Feedback Model</a:t>
            </a:r>
            <a:r>
              <a:rPr b="0" sz="1500" i="0" u="none">
                <a:solidFill>
                  <a:srgbClr val="666666"/>
                </a:solidFill>
                <a:latin typeface="Quicksand"/>
              </a:rPr>
              <a:t>. Center for Creative Leadership.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400425"/>
            <a:ext cx="103822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500" i="0" u="none">
                <a:solidFill>
                  <a:srgbClr val="666666"/>
                </a:solidFill>
                <a:latin typeface="Quicksand"/>
              </a:rPr>
              <a:t>Patterson, K., Grenny, J., McMillan, R., &amp; Switzler, A. (2011). </a:t>
            </a:r>
            <a:r>
              <a:rPr b="0" sz="1500" i="1" u="none">
                <a:solidFill>
                  <a:srgbClr val="666666"/>
                </a:solidFill>
                <a:latin typeface="Quicksand"/>
              </a:rPr>
              <a:t>Crucial Conversations: Tools for Talking When Stakes Are High</a:t>
            </a:r>
            <a:r>
              <a:rPr b="0" sz="1500" i="0" u="none">
                <a:solidFill>
                  <a:srgbClr val="666666"/>
                </a:solidFill>
                <a:latin typeface="Quicksand"/>
              </a:rPr>
              <a:t> (2nd ed.). McGraw-Hill.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4391025"/>
            <a:ext cx="110490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500" i="0" u="none">
                <a:solidFill>
                  <a:srgbClr val="666666"/>
                </a:solidFill>
                <a:latin typeface="Quicksand"/>
              </a:rPr>
              <a:t>Rosenberg, M. B. (2015). </a:t>
            </a:r>
            <a:r>
              <a:rPr b="0" sz="1500" i="1" u="none">
                <a:solidFill>
                  <a:srgbClr val="666666"/>
                </a:solidFill>
                <a:latin typeface="Quicksand"/>
              </a:rPr>
              <a:t>Nonviolent Communication: A Language of Life</a:t>
            </a:r>
            <a:r>
              <a:rPr b="0" sz="1500" i="0" u="none">
                <a:solidFill>
                  <a:srgbClr val="666666"/>
                </a:solidFill>
                <a:latin typeface="Quicksand"/>
              </a:rPr>
              <a:t> (3rd ed.). PuddleDancer Press.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5038725"/>
            <a:ext cx="110490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500" i="0" u="none">
                <a:solidFill>
                  <a:srgbClr val="666666"/>
                </a:solidFill>
                <a:latin typeface="Quicksand"/>
              </a:rPr>
              <a:t>Scott, K. (2017). </a:t>
            </a:r>
            <a:r>
              <a:rPr b="0" sz="1500" i="1" u="none">
                <a:solidFill>
                  <a:srgbClr val="666666"/>
                </a:solidFill>
                <a:latin typeface="Quicksand"/>
              </a:rPr>
              <a:t>Radical Candor: Be a Kick-Ass Boss Without Losing Your Humanity</a:t>
            </a:r>
            <a:r>
              <a:rPr b="0" sz="1500" i="0" u="none">
                <a:solidFill>
                  <a:srgbClr val="666666"/>
                </a:solidFill>
                <a:latin typeface="Quicksand"/>
              </a:rPr>
              <a:t>. St. Martin's Press.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5725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28775"/>
            <a:ext cx="11049000" cy="838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24574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24574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0125"/>
            <a:ext cx="857250" cy="4762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04987"/>
            <a:ext cx="857250" cy="4762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643187"/>
            <a:ext cx="857250" cy="476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571500"/>
            <a:ext cx="212526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431407"/>
                </a:solidFill>
                <a:latin typeface="Quicksand"/>
              </a:rPr>
              <a:t>Image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6875" y="1042987"/>
            <a:ext cx="96916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31407"/>
                </a:solidFill>
                <a:latin typeface="Quicksand"/>
              </a:rPr>
              <a:t>https://images.stockcake.com/public/c/5/f/c5f47107-123e-43c5-b033-ca6b0bef1de7_large/healing-through-connection-stockcake.jpg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6875" y="1243012"/>
            <a:ext cx="202406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31407"/>
                </a:solidFill>
                <a:latin typeface="Quicksand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Quicksand"/>
              </a:rPr>
              <a:t>stockcake.com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6875" y="1771650"/>
            <a:ext cx="100488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31407"/>
                </a:solidFill>
                <a:latin typeface="Quicksand"/>
              </a:rPr>
              <a:t>https://img.magnific.com/free-vector/people-business-meeting-office-conference-room-concept-teamwork-communication-company-brainstorming-discussion-team-vector-flat-illustration-people-with-speech-bubbles_107791-10457.jpg?semt=ais_hybrid&amp;w=740&amp;q=80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6875" y="2124075"/>
            <a:ext cx="234553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31407"/>
                </a:solidFill>
                <a:latin typeface="Quicksand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Quicksand"/>
              </a:rPr>
              <a:t>www.magnific.com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6875" y="2609850"/>
            <a:ext cx="100488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31407"/>
                </a:solidFill>
                <a:latin typeface="Quicksand"/>
              </a:rPr>
              <a:t>http://purespadirect.com/cdn/shop/articles/modern-spa-room-design-ideas-trends--essentials-for-a-serene-ambiance_6140642062521495270_20250130-ai.jpg?v=1780883041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2962275"/>
            <a:ext cx="234553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31407"/>
                </a:solidFill>
                <a:latin typeface="Quicksand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Quicksand"/>
              </a:rPr>
              <a:t>purespadirect.com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