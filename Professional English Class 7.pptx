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</ns0:sldIdLst>
  <ns0:sldSz cx="12192000" cy="6858000" type="screen4x3"/>
  <ns0:notesSz cx="6858000" cy="9144000"/>
  <ns0:embeddedFontLst>
    <ns0:embeddedFont>
      <ns0:font typeface="Inter"/>
      <ns0:bold ns1:id="rIdFont17"/>
      <ns0:regular ns1:id="rIdFont18"/>
    </ns0:embeddedFont>
    <ns0:embeddedFont>
      <ns0:font typeface="Libre Baskerville"/>
      <ns0:bold ns1:id="rIdFont19"/>
      <ns0:regular ns1:id="rIdFont2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Font17" Type="http://schemas.openxmlformats.org/officeDocument/2006/relationships/font" Target="fonts/d3df16a2-e44a-4224-91f2-e54d59979353.fntdata" /><ns0:Relationship Id="rIdFont18" Type="http://schemas.openxmlformats.org/officeDocument/2006/relationships/font" Target="fonts/92a34a3f-66f3-4c59-ba7e-37a9526d0034.fntdata" /><ns0:Relationship Id="rIdFont19" Type="http://schemas.openxmlformats.org/officeDocument/2006/relationships/font" Target="fonts/e551a791-11f7-414c-acdb-44985dece9a8.fntdata" /><ns0:Relationship Id="rIdFont20" Type="http://schemas.openxmlformats.org/officeDocument/2006/relationships/font" Target="fonts/ba5c3905-6067-40ba-9d97-dd2290f59967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91200" y="4588073"/>
            <a:ext cx="609600" cy="381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577828" y="1574452"/>
            <a:ext cx="5036343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B45309"/>
                </a:solidFill>
                <a:latin typeface="Libre Baskerville"/>
              </a:rPr>
              <a:t>PROFESSIONAL ENGLISH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375" y="2012602"/>
            <a:ext cx="10001250" cy="2194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b="1" sz="4800" i="0" u="none">
                <a:solidFill>
                  <a:srgbClr val="FAF9F6"/>
                </a:solidFill>
                <a:latin typeface="Libre Baskerville"/>
              </a:rPr>
              <a:t>Strategic Communication &amp; Meeting Dynamics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05312" y="5007173"/>
            <a:ext cx="33813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A8A29E"/>
                </a:solidFill>
                <a:latin typeface="Inter"/>
              </a:rPr>
              <a:t>Class 7 • 1-Hour Session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10972800" cy="781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1228725"/>
            <a:ext cx="10972800" cy="9525"/>
          </a:xfrm>
          <a:prstGeom prst="rect">
            <a:avLst/>
          </a:prstGeom>
          <a:solidFill>
            <a:srgbClr val="D6D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000250"/>
            <a:ext cx="3454449" cy="2943225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68849" y="2000250"/>
            <a:ext cx="3454449" cy="2943225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8099" y="2000250"/>
            <a:ext cx="3454449" cy="2943225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000250"/>
            <a:ext cx="3454449" cy="38100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68849" y="2000250"/>
            <a:ext cx="3454449" cy="38100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8099" y="2000250"/>
            <a:ext cx="3454449" cy="38100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45309"/>
                </a:solidFill>
                <a:latin typeface="Inter"/>
              </a:rPr>
              <a:t>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C1917"/>
                </a:solidFill>
                <a:latin typeface="Libre Baskerville"/>
              </a:rPr>
              <a:t>Class 7 Agenda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2419350"/>
            <a:ext cx="353384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66534"/>
                </a:solidFill>
                <a:latin typeface="Libre Baskerville"/>
              </a:rPr>
              <a:t>01. Meeting Dynamics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2847975"/>
            <a:ext cx="3365562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57534E"/>
                </a:solidFill>
                <a:latin typeface="Inter"/>
              </a:rPr>
              <a:t>30 Minutes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600" y="3257550"/>
            <a:ext cx="278769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57534E"/>
                </a:solidFill>
                <a:latin typeface="Inter"/>
              </a:rPr>
              <a:t>Learn vocabulary for directing, pausing, and extracting value from corporate meetings.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9849" y="2419350"/>
            <a:ext cx="2927084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66534"/>
                </a:solidFill>
                <a:latin typeface="Libre Baskerville"/>
              </a:rPr>
              <a:t>02. Leadership 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9849" y="3124200"/>
            <a:ext cx="3365562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57534E"/>
                </a:solidFill>
                <a:latin typeface="Inter"/>
              </a:rPr>
              <a:t>15 Minutes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49849" y="3533775"/>
            <a:ext cx="2787699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57534E"/>
                </a:solidFill>
                <a:latin typeface="Inter"/>
              </a:rPr>
              <a:t>Master terms used by executives to build consensus, overcome blocks, and scale success.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9099" y="2419350"/>
            <a:ext cx="353384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66534"/>
                </a:solidFill>
                <a:latin typeface="Libre Baskerville"/>
              </a:rPr>
              <a:t>03. Speaking Practice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9099" y="2847975"/>
            <a:ext cx="3365562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57534E"/>
                </a:solidFill>
                <a:latin typeface="Inter"/>
              </a:rPr>
              <a:t>15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9099" y="3257550"/>
            <a:ext cx="278769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57534E"/>
                </a:solidFill>
                <a:latin typeface="Inter"/>
              </a:rPr>
              <a:t>Apply the new vocabulary in real-world professional speaking scenarios.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10972800" cy="781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1228725"/>
            <a:ext cx="10972800" cy="9525"/>
          </a:xfrm>
          <a:prstGeom prst="rect">
            <a:avLst/>
          </a:prstGeom>
          <a:solidFill>
            <a:srgbClr val="D6D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3967162"/>
            <a:ext cx="28575" cy="24765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4367212"/>
            <a:ext cx="28575" cy="24765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4767262"/>
            <a:ext cx="28575" cy="24765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3967162"/>
            <a:ext cx="28575" cy="24765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4367212"/>
            <a:ext cx="28575" cy="24765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4767262"/>
            <a:ext cx="28575" cy="24765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45309"/>
                </a:solidFill>
                <a:latin typeface="Inter"/>
              </a:rPr>
              <a:t>PART 1: MEETING DYNAMICS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C1917"/>
                </a:solidFill>
                <a:latin typeface="Libre Baskerville"/>
              </a:rPr>
              <a:t>Task Assignment &amp; Syncing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2928937"/>
            <a:ext cx="680085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166534"/>
                </a:solidFill>
                <a:latin typeface="Libre Baskerville"/>
              </a:rPr>
              <a:t>Action Item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3538537"/>
            <a:ext cx="6477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7534E"/>
                </a:solidFill>
                <a:latin typeface="Inter"/>
              </a:rPr>
              <a:t>ASSIGNED TASK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928937"/>
            <a:ext cx="57912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166534"/>
                </a:solidFill>
                <a:latin typeface="Libre Baskerville"/>
              </a:rPr>
              <a:t>Touch 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538537"/>
            <a:ext cx="57912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7534E"/>
                </a:solidFill>
                <a:latin typeface="Inter"/>
              </a:rPr>
              <a:t>BRIEF SYNC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3967162"/>
            <a:ext cx="63246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C1917"/>
                </a:solidFill>
                <a:latin typeface="Inter"/>
              </a:rPr>
              <a:t>Example 1:</a:t>
            </a:r>
            <a:r>
              <a:rPr b="0" sz="1650" i="0" u="none">
                <a:solidFill>
                  <a:srgbClr val="292524"/>
                </a:solidFill>
                <a:latin typeface="Inter"/>
              </a:rPr>
              <a:t> Assign the action items.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4367212"/>
            <a:ext cx="63246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C1917"/>
                </a:solidFill>
                <a:latin typeface="Inter"/>
              </a:rPr>
              <a:t>Example 2:</a:t>
            </a:r>
            <a:r>
              <a:rPr b="0" sz="1650" i="0" u="none">
                <a:solidFill>
                  <a:srgbClr val="292524"/>
                </a:solidFill>
                <a:latin typeface="Inter"/>
              </a:rPr>
              <a:t> Review pending action items.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4767262"/>
            <a:ext cx="63246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C1917"/>
                </a:solidFill>
                <a:latin typeface="Inter"/>
              </a:rPr>
              <a:t>Example 3:</a:t>
            </a:r>
            <a:r>
              <a:rPr b="0" sz="1650" i="0" u="none">
                <a:solidFill>
                  <a:srgbClr val="292524"/>
                </a:solidFill>
                <a:latin typeface="Inter"/>
              </a:rPr>
              <a:t> That is John's action item.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200" y="3967162"/>
            <a:ext cx="56388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C1917"/>
                </a:solidFill>
                <a:latin typeface="Inter"/>
              </a:rPr>
              <a:t>Example 1:</a:t>
            </a:r>
            <a:r>
              <a:rPr b="0" sz="1650" i="0" u="none">
                <a:solidFill>
                  <a:srgbClr val="292524"/>
                </a:solidFill>
                <a:latin typeface="Inter"/>
              </a:rPr>
              <a:t> Let's touch base tomorrow.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200" y="4367212"/>
            <a:ext cx="56388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C1917"/>
                </a:solidFill>
                <a:latin typeface="Inter"/>
              </a:rPr>
              <a:t>Example 2:</a:t>
            </a:r>
            <a:r>
              <a:rPr b="0" sz="1650" i="0" u="none">
                <a:solidFill>
                  <a:srgbClr val="292524"/>
                </a:solidFill>
                <a:latin typeface="Inter"/>
              </a:rPr>
              <a:t> Touching base on progress.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200" y="4767262"/>
            <a:ext cx="56388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C1917"/>
                </a:solidFill>
                <a:latin typeface="Inter"/>
              </a:rPr>
              <a:t>Example 3:</a:t>
            </a:r>
            <a:r>
              <a:rPr b="0" sz="1650" i="0" u="none">
                <a:solidFill>
                  <a:srgbClr val="292524"/>
                </a:solidFill>
                <a:latin typeface="Inter"/>
              </a:rPr>
              <a:t> Schedule a quick touch base.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10972800" cy="781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1228725"/>
            <a:ext cx="10972800" cy="9525"/>
          </a:xfrm>
          <a:prstGeom prst="rect">
            <a:avLst/>
          </a:prstGeom>
          <a:solidFill>
            <a:srgbClr val="D6D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3967162"/>
            <a:ext cx="28575" cy="24765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4367212"/>
            <a:ext cx="28575" cy="24765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4767262"/>
            <a:ext cx="28575" cy="24765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3967162"/>
            <a:ext cx="28575" cy="24765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4367212"/>
            <a:ext cx="28575" cy="24765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4767262"/>
            <a:ext cx="28575" cy="24765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45309"/>
                </a:solidFill>
                <a:latin typeface="Inter"/>
              </a:rPr>
              <a:t>PART 1: MEETING DYNAMICS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C1917"/>
                </a:solidFill>
                <a:latin typeface="Libre Baskerville"/>
              </a:rPr>
              <a:t>Analysis &amp; Postponement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2928937"/>
            <a:ext cx="680085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166534"/>
                </a:solidFill>
                <a:latin typeface="Libre Baskerville"/>
              </a:rPr>
              <a:t>Deep Dive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3538537"/>
            <a:ext cx="6477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7534E"/>
                </a:solidFill>
                <a:latin typeface="Inter"/>
              </a:rPr>
              <a:t>DETAILED EXAMINATION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928937"/>
            <a:ext cx="57912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166534"/>
                </a:solidFill>
                <a:latin typeface="Libre Baskerville"/>
              </a:rPr>
              <a:t>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538537"/>
            <a:ext cx="57912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7534E"/>
                </a:solidFill>
                <a:latin typeface="Inter"/>
              </a:rPr>
              <a:t>POSTPONE DISCUSSION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3967162"/>
            <a:ext cx="63246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C1917"/>
                </a:solidFill>
                <a:latin typeface="Inter"/>
              </a:rPr>
              <a:t>Example 1:</a:t>
            </a:r>
            <a:r>
              <a:rPr b="0" sz="1650" i="0" u="none">
                <a:solidFill>
                  <a:srgbClr val="292524"/>
                </a:solidFill>
                <a:latin typeface="Inter"/>
              </a:rPr>
              <a:t> Schedule a deep dive.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4367212"/>
            <a:ext cx="63246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C1917"/>
                </a:solidFill>
                <a:latin typeface="Inter"/>
              </a:rPr>
              <a:t>Example 2:</a:t>
            </a:r>
            <a:r>
              <a:rPr b="0" sz="1650" i="0" u="none">
                <a:solidFill>
                  <a:srgbClr val="292524"/>
                </a:solidFill>
                <a:latin typeface="Inter"/>
              </a:rPr>
              <a:t> Deep dive into sales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4767262"/>
            <a:ext cx="63246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C1917"/>
                </a:solidFill>
                <a:latin typeface="Inter"/>
              </a:rPr>
              <a:t>Example 3:</a:t>
            </a:r>
            <a:r>
              <a:rPr b="0" sz="1650" i="0" u="none">
                <a:solidFill>
                  <a:srgbClr val="292524"/>
                </a:solidFill>
                <a:latin typeface="Inter"/>
              </a:rPr>
              <a:t> This requires a deep dive.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200" y="3967162"/>
            <a:ext cx="56388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C1917"/>
                </a:solidFill>
                <a:latin typeface="Inter"/>
              </a:rPr>
              <a:t>Example 1:</a:t>
            </a:r>
            <a:r>
              <a:rPr b="0" sz="1650" i="0" u="none">
                <a:solidFill>
                  <a:srgbClr val="292524"/>
                </a:solidFill>
                <a:latin typeface="Inter"/>
              </a:rPr>
              <a:t> Let's table this topic.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200" y="4367212"/>
            <a:ext cx="56388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C1917"/>
                </a:solidFill>
                <a:latin typeface="Inter"/>
              </a:rPr>
              <a:t>Example 2:</a:t>
            </a:r>
            <a:r>
              <a:rPr b="0" sz="1650" i="0" u="none">
                <a:solidFill>
                  <a:srgbClr val="292524"/>
                </a:solidFill>
                <a:latin typeface="Inter"/>
              </a:rPr>
              <a:t> Tabled until manager arrives.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200" y="4767262"/>
            <a:ext cx="56388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C1917"/>
                </a:solidFill>
                <a:latin typeface="Inter"/>
              </a:rPr>
              <a:t>Example 3:</a:t>
            </a:r>
            <a:r>
              <a:rPr b="0" sz="1650" i="0" u="none">
                <a:solidFill>
                  <a:srgbClr val="292524"/>
                </a:solidFill>
                <a:latin typeface="Inter"/>
              </a:rPr>
              <a:t> We should table the budget.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10972800" cy="781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1228725"/>
            <a:ext cx="10972800" cy="9525"/>
          </a:xfrm>
          <a:prstGeom prst="rect">
            <a:avLst/>
          </a:prstGeom>
          <a:solidFill>
            <a:srgbClr val="D6D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0" y="2143125"/>
            <a:ext cx="5181600" cy="3810000"/>
          </a:xfrm>
          <a:prstGeom prst="roundRect">
            <a:avLst>
              <a:gd name="adj" fmla="val 1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3967162"/>
            <a:ext cx="28575" cy="24765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4367212"/>
            <a:ext cx="28575" cy="24765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4767262"/>
            <a:ext cx="28575" cy="24765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45309"/>
                </a:solidFill>
                <a:latin typeface="Inter"/>
              </a:rPr>
              <a:t>PART 1: MEETING DYNAMICS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C1917"/>
                </a:solidFill>
                <a:latin typeface="Libre Baskerville"/>
              </a:rPr>
              <a:t>Extracting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928937"/>
            <a:ext cx="680085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166534"/>
                </a:solidFill>
                <a:latin typeface="Libre Baskerville"/>
              </a:rPr>
              <a:t>Takeaway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538537"/>
            <a:ext cx="6477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7534E"/>
                </a:solidFill>
                <a:latin typeface="Inter"/>
              </a:rPr>
              <a:t>KEY POINT LEARNED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2150" y="2143125"/>
            <a:ext cx="6438900" cy="381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500" i="0" u="none">
                <a:solidFill>
                  <a:srgbClr val="0F172A"/>
                </a:solidFill>
                <a:latin typeface="Inter"/>
              </a:rPr>
              <a:t>[Image: Corporate professionals summarizing notes]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3967162"/>
            <a:ext cx="63246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C1917"/>
                </a:solidFill>
                <a:latin typeface="Inter"/>
              </a:rPr>
              <a:t>Example 1:</a:t>
            </a:r>
            <a:r>
              <a:rPr b="0" sz="1650" i="0" u="none">
                <a:solidFill>
                  <a:srgbClr val="292524"/>
                </a:solidFill>
                <a:latin typeface="Inter"/>
              </a:rPr>
              <a:t> What is the main takeaway?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4367212"/>
            <a:ext cx="63246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C1917"/>
                </a:solidFill>
                <a:latin typeface="Inter"/>
              </a:rPr>
              <a:t>Example 2:</a:t>
            </a:r>
            <a:r>
              <a:rPr b="0" sz="1650" i="0" u="none">
                <a:solidFill>
                  <a:srgbClr val="292524"/>
                </a:solidFill>
                <a:latin typeface="Inter"/>
              </a:rPr>
              <a:t> Key takeaways from the conference.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767262"/>
            <a:ext cx="63246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C1917"/>
                </a:solidFill>
                <a:latin typeface="Inter"/>
              </a:rPr>
              <a:t>Example 3:</a:t>
            </a:r>
            <a:r>
              <a:rPr b="0" sz="1650" i="0" u="none">
                <a:solidFill>
                  <a:srgbClr val="292524"/>
                </a:solidFill>
                <a:latin typeface="Inter"/>
              </a:rPr>
              <a:t> Summarize your three takeaways.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10972800" cy="781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1228725"/>
            <a:ext cx="10972800" cy="9525"/>
          </a:xfrm>
          <a:prstGeom prst="rect">
            <a:avLst/>
          </a:prstGeom>
          <a:solidFill>
            <a:srgbClr val="D6D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3967162"/>
            <a:ext cx="28575" cy="24765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4367212"/>
            <a:ext cx="28575" cy="24765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4767262"/>
            <a:ext cx="28575" cy="24765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3967162"/>
            <a:ext cx="28575" cy="24765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4367212"/>
            <a:ext cx="28575" cy="24765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4767262"/>
            <a:ext cx="28575" cy="24765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45309"/>
                </a:solidFill>
                <a:latin typeface="Inter"/>
              </a:rPr>
              <a:t>PART 2: LEADERSHIP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C1917"/>
                </a:solidFill>
                <a:latin typeface="Libre Baskerville"/>
              </a:rPr>
              <a:t>Agreement &amp; Resistance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2928937"/>
            <a:ext cx="680085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166534"/>
                </a:solidFill>
                <a:latin typeface="Libre Baskerville"/>
              </a:rPr>
              <a:t>Buy-in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3538537"/>
            <a:ext cx="6477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7534E"/>
                </a:solidFill>
                <a:latin typeface="Inter"/>
              </a:rPr>
              <a:t>AGREEMENT OR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928937"/>
            <a:ext cx="57912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166534"/>
                </a:solidFill>
                <a:latin typeface="Libre Baskerville"/>
              </a:rPr>
              <a:t>Pushback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538537"/>
            <a:ext cx="57912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7534E"/>
                </a:solidFill>
                <a:latin typeface="Inter"/>
              </a:rPr>
              <a:t>RESISTANCE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3967162"/>
            <a:ext cx="63246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C1917"/>
                </a:solidFill>
                <a:latin typeface="Inter"/>
              </a:rPr>
              <a:t>Example 1:</a:t>
            </a:r>
            <a:r>
              <a:rPr b="0" sz="1650" i="0" u="none">
                <a:solidFill>
                  <a:srgbClr val="292524"/>
                </a:solidFill>
                <a:latin typeface="Inter"/>
              </a:rPr>
              <a:t> We need executive buy-in.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4367212"/>
            <a:ext cx="63246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C1917"/>
                </a:solidFill>
                <a:latin typeface="Inter"/>
              </a:rPr>
              <a:t>Example 2:</a:t>
            </a:r>
            <a:r>
              <a:rPr b="0" sz="1650" i="0" u="none">
                <a:solidFill>
                  <a:srgbClr val="292524"/>
                </a:solidFill>
                <a:latin typeface="Inter"/>
              </a:rPr>
              <a:t> Secured early client buy-in.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4767262"/>
            <a:ext cx="63246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C1917"/>
                </a:solidFill>
                <a:latin typeface="Inter"/>
              </a:rPr>
              <a:t>Example 3:</a:t>
            </a:r>
            <a:r>
              <a:rPr b="0" sz="1650" i="0" u="none">
                <a:solidFill>
                  <a:srgbClr val="292524"/>
                </a:solidFill>
                <a:latin typeface="Inter"/>
              </a:rPr>
              <a:t> Struggling with team buy-in.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200" y="3967162"/>
            <a:ext cx="56388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C1917"/>
                </a:solidFill>
                <a:latin typeface="Inter"/>
              </a:rPr>
              <a:t>Example 1:</a:t>
            </a:r>
            <a:r>
              <a:rPr b="0" sz="1650" i="0" u="none">
                <a:solidFill>
                  <a:srgbClr val="292524"/>
                </a:solidFill>
                <a:latin typeface="Inter"/>
              </a:rPr>
              <a:t> Expect pushback on the timeline.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200" y="4367212"/>
            <a:ext cx="56388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C1917"/>
                </a:solidFill>
                <a:latin typeface="Inter"/>
              </a:rPr>
              <a:t>Example 2:</a:t>
            </a:r>
            <a:r>
              <a:rPr b="0" sz="1650" i="0" u="none">
                <a:solidFill>
                  <a:srgbClr val="292524"/>
                </a:solidFill>
                <a:latin typeface="Inter"/>
              </a:rPr>
              <a:t> Handling client pushback effectively.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200" y="4767262"/>
            <a:ext cx="56388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C1917"/>
                </a:solidFill>
                <a:latin typeface="Inter"/>
              </a:rPr>
              <a:t>Example 3:</a:t>
            </a:r>
            <a:r>
              <a:rPr b="0" sz="1650" i="0" u="none">
                <a:solidFill>
                  <a:srgbClr val="292524"/>
                </a:solidFill>
                <a:latin typeface="Inter"/>
              </a:rPr>
              <a:t> Received pushback from legal.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10972800" cy="781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1228725"/>
            <a:ext cx="10972800" cy="9525"/>
          </a:xfrm>
          <a:prstGeom prst="rect">
            <a:avLst/>
          </a:prstGeom>
          <a:solidFill>
            <a:srgbClr val="D6D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3967162"/>
            <a:ext cx="28575" cy="24765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4367212"/>
            <a:ext cx="28575" cy="24765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4767262"/>
            <a:ext cx="28575" cy="24765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3967162"/>
            <a:ext cx="28575" cy="24765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4367212"/>
            <a:ext cx="28575" cy="24765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4767262"/>
            <a:ext cx="28575" cy="24765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45309"/>
                </a:solidFill>
                <a:latin typeface="Inter"/>
              </a:rPr>
              <a:t>PART 2: LEADERSHIP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C1917"/>
                </a:solidFill>
                <a:latin typeface="Libre Baskerville"/>
              </a:rPr>
              <a:t>Advantage &amp; Congestion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2928937"/>
            <a:ext cx="680085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166534"/>
                </a:solidFill>
                <a:latin typeface="Libre Baskerville"/>
              </a:rPr>
              <a:t>Leverage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3538537"/>
            <a:ext cx="6477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7534E"/>
                </a:solidFill>
                <a:latin typeface="Inter"/>
              </a:rPr>
              <a:t>USE TO ADVANTAGE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928937"/>
            <a:ext cx="57912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166534"/>
                </a:solidFill>
                <a:latin typeface="Libre Baskerville"/>
              </a:rPr>
              <a:t>Bottleneck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538537"/>
            <a:ext cx="57912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7534E"/>
                </a:solidFill>
                <a:latin typeface="Inter"/>
              </a:rPr>
              <a:t>POINT OF CONGESTION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3967162"/>
            <a:ext cx="63246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C1917"/>
                </a:solidFill>
                <a:latin typeface="Inter"/>
              </a:rPr>
              <a:t>Example 1:</a:t>
            </a:r>
            <a:r>
              <a:rPr b="0" sz="1650" i="0" u="none">
                <a:solidFill>
                  <a:srgbClr val="292524"/>
                </a:solidFill>
                <a:latin typeface="Inter"/>
              </a:rPr>
              <a:t> Leverage our existing resources.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4367212"/>
            <a:ext cx="63246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C1917"/>
                </a:solidFill>
                <a:latin typeface="Inter"/>
              </a:rPr>
              <a:t>Example 2:</a:t>
            </a:r>
            <a:r>
              <a:rPr b="0" sz="1650" i="0" u="none">
                <a:solidFill>
                  <a:srgbClr val="292524"/>
                </a:solidFill>
                <a:latin typeface="Inter"/>
              </a:rPr>
              <a:t> Leverage new software features.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4767262"/>
            <a:ext cx="63246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C1917"/>
                </a:solidFill>
                <a:latin typeface="Inter"/>
              </a:rPr>
              <a:t>Example 3:</a:t>
            </a:r>
            <a:r>
              <a:rPr b="0" sz="1650" i="0" u="none">
                <a:solidFill>
                  <a:srgbClr val="292524"/>
                </a:solidFill>
                <a:latin typeface="Inter"/>
              </a:rPr>
              <a:t> Leveraging relationships for growth.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200" y="3967162"/>
            <a:ext cx="56388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C1917"/>
                </a:solidFill>
                <a:latin typeface="Inter"/>
              </a:rPr>
              <a:t>Example 1:</a:t>
            </a:r>
            <a:r>
              <a:rPr b="0" sz="1650" i="0" u="none">
                <a:solidFill>
                  <a:srgbClr val="292524"/>
                </a:solidFill>
                <a:latin typeface="Inter"/>
              </a:rPr>
              <a:t> Quality assurance is a bottleneck.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200" y="4367212"/>
            <a:ext cx="56388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C1917"/>
                </a:solidFill>
                <a:latin typeface="Inter"/>
              </a:rPr>
              <a:t>Example 2:</a:t>
            </a:r>
            <a:r>
              <a:rPr b="0" sz="1650" i="0" u="none">
                <a:solidFill>
                  <a:srgbClr val="292524"/>
                </a:solidFill>
                <a:latin typeface="Inter"/>
              </a:rPr>
              <a:t> Identify the main bottleneck.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200" y="4767262"/>
            <a:ext cx="56388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C1917"/>
                </a:solidFill>
                <a:latin typeface="Inter"/>
              </a:rPr>
              <a:t>Example 3:</a:t>
            </a:r>
            <a:r>
              <a:rPr b="0" sz="1650" i="0" u="none">
                <a:solidFill>
                  <a:srgbClr val="292524"/>
                </a:solidFill>
                <a:latin typeface="Inter"/>
              </a:rPr>
              <a:t> Clearing the project bottlenecks.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10972800" cy="781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1228725"/>
            <a:ext cx="10972800" cy="9525"/>
          </a:xfrm>
          <a:prstGeom prst="rect">
            <a:avLst/>
          </a:prstGeom>
          <a:solidFill>
            <a:srgbClr val="D6D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0" y="2143125"/>
            <a:ext cx="5181600" cy="3810000"/>
          </a:xfrm>
          <a:prstGeom prst="roundRect">
            <a:avLst>
              <a:gd name="adj" fmla="val 1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3967162"/>
            <a:ext cx="28575" cy="24765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4367212"/>
            <a:ext cx="28575" cy="24765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4767262"/>
            <a:ext cx="28575" cy="24765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45309"/>
                </a:solidFill>
                <a:latin typeface="Inter"/>
              </a:rPr>
              <a:t>PART 2: LEADERSHIP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C1917"/>
                </a:solidFill>
                <a:latin typeface="Libre Baskerville"/>
              </a:rPr>
              <a:t>Standards of Excellence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928937"/>
            <a:ext cx="680085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166534"/>
                </a:solidFill>
                <a:latin typeface="Libre Baskerville"/>
              </a:rPr>
              <a:t>Best 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538537"/>
            <a:ext cx="6477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7534E"/>
                </a:solidFill>
                <a:latin typeface="Inter"/>
              </a:rPr>
              <a:t>SUPERIOR METHOD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2150" y="2143125"/>
            <a:ext cx="6438900" cy="381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500" i="0" u="none">
                <a:solidFill>
                  <a:srgbClr val="0F172A"/>
                </a:solidFill>
                <a:latin typeface="Inter"/>
              </a:rPr>
              <a:t>[Image: Team analyzing a successful workflow]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3967162"/>
            <a:ext cx="63246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C1917"/>
                </a:solidFill>
                <a:latin typeface="Inter"/>
              </a:rPr>
              <a:t>Example 1:</a:t>
            </a:r>
            <a:r>
              <a:rPr b="0" sz="1650" i="0" u="none">
                <a:solidFill>
                  <a:srgbClr val="292524"/>
                </a:solidFill>
                <a:latin typeface="Inter"/>
              </a:rPr>
              <a:t> Follow coding best practices.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4367212"/>
            <a:ext cx="63246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C1917"/>
                </a:solidFill>
                <a:latin typeface="Inter"/>
              </a:rPr>
              <a:t>Example 2:</a:t>
            </a:r>
            <a:r>
              <a:rPr b="0" sz="1650" i="0" u="none">
                <a:solidFill>
                  <a:srgbClr val="292524"/>
                </a:solidFill>
                <a:latin typeface="Inter"/>
              </a:rPr>
              <a:t> Research industry best practices.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767262"/>
            <a:ext cx="63246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C1917"/>
                </a:solidFill>
                <a:latin typeface="Inter"/>
              </a:rPr>
              <a:t>Example 3:</a:t>
            </a:r>
            <a:r>
              <a:rPr b="0" sz="1650" i="0" u="none">
                <a:solidFill>
                  <a:srgbClr val="292524"/>
                </a:solidFill>
                <a:latin typeface="Inter"/>
              </a:rPr>
              <a:t> Implementing a new best practice.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200"/>
            <a:ext cx="10972800" cy="781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1924050"/>
            <a:ext cx="10972800" cy="5057179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228725"/>
            <a:ext cx="10972800" cy="9525"/>
          </a:xfrm>
          <a:prstGeom prst="rect">
            <a:avLst/>
          </a:prstGeom>
          <a:solidFill>
            <a:srgbClr val="D6D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1924050"/>
            <a:ext cx="76200" cy="5057179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45309"/>
                </a:solidFill>
                <a:latin typeface="Inter"/>
              </a:rPr>
              <a:t>PART 3: SPEAKING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C1917"/>
                </a:solidFill>
                <a:latin typeface="Libre Baskerville"/>
              </a:rPr>
              <a:t>Interactive Scenario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381250"/>
            <a:ext cx="1104900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C1917"/>
                </a:solidFill>
                <a:latin typeface="Libre Baskerville"/>
              </a:rPr>
              <a:t>Fill in the Blanks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943225"/>
            <a:ext cx="10077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57534E"/>
                </a:solidFill>
                <a:latin typeface="Inter"/>
              </a:rPr>
              <a:t>Use the following words to complete the sentences: </a:t>
            </a:r>
            <a:r>
              <a:t>
</a:t>
            </a:r>
            <a:r>
              <a:rPr b="1" sz="1500" i="0" u="none">
                <a:solidFill>
                  <a:srgbClr val="57534E"/>
                </a:solidFill>
                <a:latin typeface="Inter"/>
              </a:rPr>
              <a:t>Touch Base, Buy-in, Bottleneck, Action Item, 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705225"/>
            <a:ext cx="10820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0" sz="1800" i="0" u="none">
                <a:solidFill>
                  <a:srgbClr val="1C1917"/>
                </a:solidFill>
                <a:latin typeface="Inter"/>
              </a:rPr>
              <a:t>We cannot proceed until we secure executive ________.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268985"/>
            <a:ext cx="10820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0" sz="1800" i="0" u="none">
                <a:solidFill>
                  <a:srgbClr val="1C1917"/>
                </a:solidFill>
                <a:latin typeface="Inter"/>
              </a:rPr>
              <a:t>Legal review is currently the biggest ________ in our process.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832746"/>
            <a:ext cx="10820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0" sz="1800" i="0" u="none">
                <a:solidFill>
                  <a:srgbClr val="1C1917"/>
                </a:solidFill>
                <a:latin typeface="Inter"/>
              </a:rPr>
              <a:t>Let's ________ this discussion until the client arrives.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96507"/>
            <a:ext cx="10820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0" sz="1800" i="0" u="none">
                <a:solidFill>
                  <a:srgbClr val="1C1917"/>
                </a:solidFill>
                <a:latin typeface="Inter"/>
              </a:rPr>
              <a:t>Updating the weekly report is your main ________.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960268"/>
            <a:ext cx="10820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0" sz="1800" i="0" u="none">
                <a:solidFill>
                  <a:srgbClr val="1C1917"/>
                </a:solidFill>
                <a:latin typeface="Inter"/>
              </a:rPr>
              <a:t>I will call you on Friday to ________ on the project status.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67400" y="4391025"/>
            <a:ext cx="457200" cy="28575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395537" y="2438400"/>
            <a:ext cx="7400925" cy="657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AF9F6"/>
                </a:solidFill>
                <a:latin typeface="Libre Baskerville"/>
              </a:rPr>
              <a:t>Questions &amp;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3324225"/>
            <a:ext cx="71437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1800" i="0" u="none">
                <a:solidFill>
                  <a:srgbClr val="A8A29E"/>
                </a:solidFill>
                <a:latin typeface="Inter"/>
              </a:rPr>
              <a:t>Great job today. Practice using these 10 words in your daily meetings this week.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