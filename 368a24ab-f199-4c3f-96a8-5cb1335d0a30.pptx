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</ns0:sldIdLst>
  <ns0:sldSz cx="12192000" cy="6858000" type="screen4x3"/>
  <ns0:notesSz cx="6858000" cy="9144000"/>
  <ns0:embeddedFontLst>
    <ns0:embeddedFont>
      <ns0:font typeface="Inter"/>
      <ns0:italic ns1:id="rIdFont12"/>
      <ns0:bold ns1:id="rIdFont13"/>
      <ns0:regular ns1:id="rIdFont14"/>
    </ns0:embeddedFont>
    <ns0:embeddedFont>
      <ns0:font typeface="JetBrains Mono"/>
      <ns0:bold ns1:id="rIdFont15"/>
      <ns0:regular ns1:id="rIdFont16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Font12" Type="http://schemas.openxmlformats.org/officeDocument/2006/relationships/font" Target="fonts/481dfe81-a343-42cd-8a19-dc2e1f61362e.fntdata" /><ns0:Relationship Id="rIdFont13" Type="http://schemas.openxmlformats.org/officeDocument/2006/relationships/font" Target="fonts/23992746-737d-4006-bf43-42e70da2539a.fntdata" /><ns0:Relationship Id="rIdFont14" Type="http://schemas.openxmlformats.org/officeDocument/2006/relationships/font" Target="fonts/ebc3207d-80b8-49c3-b049-557d6c1df5c3.fntdata" /><ns0:Relationship Id="rIdFont15" Type="http://schemas.openxmlformats.org/officeDocument/2006/relationships/font" Target="fonts/e6f2a3b7-cf83-46e6-8a73-0a2e4691ea20.fntdata" /><ns0:Relationship Id="rIdFont16" Type="http://schemas.openxmlformats.org/officeDocument/2006/relationships/font" Target="fonts/a92dd246-8975-43e2-93d5-42ef479351cf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43000" y="4058542"/>
            <a:ext cx="762000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816596"/>
            <a:ext cx="11049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F4444"/>
                </a:solidFill>
                <a:latin typeface="JetBrains Mono"/>
              </a:rPr>
              <a:t>INTERNAL REFERENCE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245221"/>
            <a:ext cx="9101137" cy="1508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b="1" sz="5400" i="0" u="none">
                <a:solidFill>
                  <a:srgbClr val="FFFFFF"/>
                </a:solidFill>
                <a:latin typeface="Inter"/>
              </a:rPr>
              <a:t>Interviewer Rubric &amp;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401442"/>
            <a:ext cx="58102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94A3B8"/>
                </a:solidFill>
                <a:latin typeface="Inter"/>
              </a:rPr>
              <a:t>Specific questions and evaluation criteria for the 30-minute technical screen.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00762" y="609600"/>
            <a:ext cx="5481637" cy="56388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57962" y="4138612"/>
            <a:ext cx="5024437" cy="819150"/>
          </a:xfrm>
          <a:prstGeom prst="roundRect">
            <a:avLst>
              <a:gd name="adj" fmla="val 930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2068859"/>
            <a:ext cx="628054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F4444"/>
                </a:solidFill>
                <a:latin typeface="JetBrains Mono"/>
              </a:rPr>
              <a:t>PART 1 (7 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392709"/>
            <a:ext cx="6594574" cy="3771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b="1" sz="2700" i="0" u="none">
                <a:solidFill>
                  <a:srgbClr val="0F172A"/>
                </a:solidFill>
                <a:latin typeface="Inter"/>
              </a:rPr>
              <a:t>Power Query &amp; 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57962" y="1900237"/>
            <a:ext cx="563403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What to look for: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074640"/>
            <a:ext cx="659457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Question 1 (Power Query)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379440"/>
            <a:ext cx="5119687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"Walk me through how you clean a column with inconsistent dates and null values in Power Query."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084290"/>
            <a:ext cx="659457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Question 2 (SQL)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389090"/>
            <a:ext cx="5119687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"Write a SQL query conceptually to find the total sales amount per geographic region."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7962" y="2481262"/>
            <a:ext cx="56340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Inter"/>
              </a:rPr>
              <a:t>Expected Answer 1 (PQ):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7962" y="3862387"/>
            <a:ext cx="56340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Inter"/>
              </a:rPr>
              <a:t>Expected Answer 2 (SQL):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7962" y="2757487"/>
            <a:ext cx="56340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• Filter out or replace null values.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7962" y="3024187"/>
            <a:ext cx="56340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• Use 'Change Type' with Locale for dates.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7962" y="3290887"/>
            <a:ext cx="56340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• Extract year/month via Add Column.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0362" y="4291012"/>
            <a:ext cx="54816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JetBrains Mono"/>
              </a:rPr>
              <a:t>SELECT Region, SUM(Sales)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10362" y="4462462"/>
            <a:ext cx="54816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JetBrains Mono"/>
              </a:rPr>
              <a:t>FROM SalesTable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10362" y="4633912"/>
            <a:ext cx="54816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JetBrains Mono"/>
              </a:rPr>
              <a:t>GROUP BY Region;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905125"/>
            <a:ext cx="3505200" cy="217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43400" y="2905125"/>
            <a:ext cx="3505200" cy="217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77200" y="2905125"/>
            <a:ext cx="3505200" cy="217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905125"/>
            <a:ext cx="3505200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43400" y="2905125"/>
            <a:ext cx="3505200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77200" y="2905125"/>
            <a:ext cx="3505200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09600"/>
            <a:ext cx="448865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F4444"/>
                </a:solidFill>
                <a:latin typeface="JetBrains Mono"/>
              </a:rPr>
              <a:t>PART 2 (10 MIN)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857250"/>
            <a:ext cx="4713089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Data Modeling &amp; DAX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8025"/>
            <a:ext cx="38004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Q1: Star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00450"/>
            <a:ext cx="29908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1" u="none">
                <a:solidFill>
                  <a:srgbClr val="475569"/>
                </a:solidFill>
                <a:latin typeface="Inter"/>
              </a:rPr>
              <a:t>"Why use Fact and Dimension tables over one flat Excel sheet?"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10050"/>
            <a:ext cx="3619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Look for: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48175"/>
            <a:ext cx="29908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Performance, storage efficiency, correct filtering relationships (1-to-many).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8200" y="3248025"/>
            <a:ext cx="38004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Q2: Measure vs Column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8200" y="3600450"/>
            <a:ext cx="29908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1" u="none">
                <a:solidFill>
                  <a:srgbClr val="475569"/>
                </a:solidFill>
                <a:latin typeface="Inter"/>
              </a:rPr>
              <a:t>"Explain the difference and when you would use a Measure."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4210050"/>
            <a:ext cx="3619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Look for: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8200" y="4448175"/>
            <a:ext cx="29908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Columns process row-by-row (storage cost). Measures calculate on-the-fly (aggregations).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0" y="3248025"/>
            <a:ext cx="38004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Q3: Syntax Knowledge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0" y="3600450"/>
            <a:ext cx="29908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1" u="none">
                <a:solidFill>
                  <a:srgbClr val="475569"/>
                </a:solidFill>
                <a:latin typeface="Inter"/>
              </a:rPr>
              <a:t>"DAX formula for 'Total Sales' only for the 'Electronics' category?"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0" y="4210050"/>
            <a:ext cx="3619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Look for: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0" y="4448175"/>
            <a:ext cx="29908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JetBrains Mono"/>
              </a:rPr>
              <a:t>CALCULATE( SUM(Sales), Category="Electronics" 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790825"/>
            <a:ext cx="5181600" cy="866775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0" y="2790825"/>
            <a:ext cx="5181600" cy="866775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790825"/>
            <a:ext cx="38100" cy="866775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0" y="2790825"/>
            <a:ext cx="38100" cy="866775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F4444"/>
                </a:solidFill>
                <a:latin typeface="JetBrains Mono"/>
              </a:rPr>
              <a:t>PART 3 (8 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85725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Scenarios &amp; Troubleshooting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733550"/>
            <a:ext cx="68008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Scenario A: Slow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162175"/>
            <a:ext cx="52768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1" u="none">
                <a:solidFill>
                  <a:srgbClr val="475569"/>
                </a:solidFill>
                <a:latin typeface="Inter"/>
              </a:rPr>
              <a:t>"A user complains their dashboard takes 30 seconds to load. How do you troubleshoot?"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3550"/>
            <a:ext cx="57912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Scenario B: Vague Specs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62175"/>
            <a:ext cx="52768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1" u="none">
                <a:solidFill>
                  <a:srgbClr val="475569"/>
                </a:solidFill>
                <a:latin typeface="Inter"/>
              </a:rPr>
              <a:t>"Stakeholder says 'I need a sales dashboard' with no details. How do you gather requirements?"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2943225"/>
            <a:ext cx="60483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6534"/>
                </a:solidFill>
                <a:latin typeface="Inter"/>
              </a:rPr>
              <a:t>Passing Answer Keys: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3181350"/>
            <a:ext cx="49339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5803D"/>
                </a:solidFill>
                <a:latin typeface="Inter"/>
              </a:rPr>
              <a:t>Mentions Performance Analyzer. Checks for overly complex DAX. Removes unused columns (model size). Verifies Query Folding.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1300" y="2943225"/>
            <a:ext cx="56007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6534"/>
                </a:solidFill>
                <a:latin typeface="Inter"/>
              </a:rPr>
              <a:t>Passing Answer Keys: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1300" y="3181350"/>
            <a:ext cx="49339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5803D"/>
                </a:solidFill>
                <a:latin typeface="Inter"/>
              </a:rPr>
              <a:t>Schedules discovery meeting. Asks for current pain points. Creates wireframes/mockups first. Identifies specific KPIs needed.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45456" y="2512665"/>
            <a:ext cx="8701087" cy="6704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b="1" sz="4800" i="0" u="none">
                <a:solidFill>
                  <a:srgbClr val="FFFFFF"/>
                </a:solidFill>
                <a:latin typeface="Inter"/>
              </a:rPr>
              <a:t>Wrap-Up &amp;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83656" y="3411735"/>
            <a:ext cx="702468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94A3B8"/>
                </a:solidFill>
                <a:latin typeface="Inter"/>
              </a:rPr>
              <a:t>Reserve the final 5 minutes for candidate questions.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21881" y="4145160"/>
            <a:ext cx="27384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EF4444"/>
                </a:solidFill>
                <a:latin typeface="JetBrains Mono"/>
              </a:rPr>
              <a:t>SCORE: TECHNICAL ACUMEN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3150" y="4145160"/>
            <a:ext cx="2381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EF4444"/>
                </a:solidFill>
                <a:latin typeface="JetBrains Mono"/>
              </a:rPr>
              <a:t>SCORE: COMMUNICATION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