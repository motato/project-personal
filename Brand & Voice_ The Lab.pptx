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Space Grotesk"/>
      <ns0:bold ns1:id="rIdFont17"/>
    </ns0:embeddedFont>
    <ns0:embeddedFont>
      <ns0:font typeface="Inter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b0097c44-ee51-430e-84b5-000fb5aa5b16.fntdata" /><ns0:Relationship Id="rIdFont18" Type="http://schemas.openxmlformats.org/officeDocument/2006/relationships/font" Target="fonts/5423d348-7539-4f16-8129-9741fefacd76.fntdata" /><ns0:Relationship Id="rIdFont19" Type="http://schemas.openxmlformats.org/officeDocument/2006/relationships/font" Target="fonts/28163351-a026-4474-acc6-580c2b4b0a6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160615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659284"/>
            <a:ext cx="27265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Inter"/>
              </a:rPr>
              <a:t>PRACTICAL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078384"/>
            <a:ext cx="7920990" cy="1843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9"/>
              </a:lnSpc>
            </a:pPr>
            <a:r>
              <a:rPr b="1" sz="6600" i="0" u="none">
                <a:solidFill>
                  <a:srgbClr val="F8FAFC"/>
                </a:solidFill>
                <a:latin typeface="Space Grotesk"/>
              </a:rPr>
              <a:t>Brand &amp; Voice:</a:t>
            </a:r>
            <a:r>
              <a:t>
</a:t>
            </a:r>
            <a:r>
              <a:rPr b="1" sz="6600" i="0" u="none">
                <a:solidFill>
                  <a:srgbClr val="F8FAFC"/>
                </a:solidFill>
                <a:latin typeface="Space Grotesk"/>
              </a:rPr>
              <a:t> The Execution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150965"/>
            <a:ext cx="58102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94A3B8"/>
                </a:solidFill>
                <a:latin typeface="Inter"/>
              </a:rPr>
              <a:t>60 minutes of rapid practice, teardowns, and refinement for engineering professionals.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38500" y="4126110"/>
            <a:ext cx="5715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625" y="1893689"/>
            <a:ext cx="2190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THE GROUND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4214" y="2388989"/>
            <a:ext cx="8563570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b="1" sz="4200" i="0" u="none">
                <a:solidFill>
                  <a:srgbClr val="0F172A"/>
                </a:solidFill>
                <a:latin typeface="Space Grotesk"/>
              </a:rPr>
              <a:t>Zero theory today.</a:t>
            </a:r>
            <a:r>
              <a:t>
</a:t>
            </a:r>
            <a:r>
              <a:rPr b="1" sz="4200" i="0" u="none">
                <a:solidFill>
                  <a:srgbClr val="0F172A"/>
                </a:solidFill>
                <a:latin typeface="Space Grotesk"/>
              </a:rPr>
              <a:t> You know the 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3125" y="4592835"/>
            <a:ext cx="79057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475569"/>
                </a:solidFill>
                <a:latin typeface="Inter"/>
              </a:rPr>
              <a:t>Today we build, test, and break your brand.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83371"/>
            <a:ext cx="4862512" cy="2586632"/>
          </a:xfrm>
          <a:prstGeom prst="roundRect">
            <a:avLst>
              <a:gd name="adj" fmla="val 58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19887" y="2683371"/>
            <a:ext cx="4862512" cy="2586632"/>
          </a:xfrm>
          <a:prstGeom prst="roundRect">
            <a:avLst>
              <a:gd name="adj" fmla="val 589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6325" y="2464296"/>
            <a:ext cx="1895475" cy="352425"/>
          </a:xfrm>
          <a:prstGeom prst="roundRect">
            <a:avLst>
              <a:gd name="adj" fmla="val 21621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86612" y="2464296"/>
            <a:ext cx="1809750" cy="352425"/>
          </a:xfrm>
          <a:prstGeom prst="roundRect">
            <a:avLst>
              <a:gd name="adj" fmla="val 2162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150096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2" y="3786187"/>
            <a:ext cx="333375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612" y="3150096"/>
            <a:ext cx="2667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The Engineering Trap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8725" y="2540496"/>
            <a:ext cx="16859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Space Grotesk"/>
              </a:rPr>
              <a:t>THE SKILL (FEATURES)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683496"/>
            <a:ext cx="4024312" cy="1119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b="0" sz="2100" i="0" u="none">
                <a:solidFill>
                  <a:srgbClr val="475569"/>
                </a:solidFill>
                <a:latin typeface="Inter"/>
              </a:rPr>
              <a:t>"I write Python automation scripts and manage cloud infrastructure deployments."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9012" y="2540496"/>
            <a:ext cx="1600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Space Grotesk"/>
              </a:rPr>
              <a:t>THE BRAND (IMPACT)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6612" y="3683496"/>
            <a:ext cx="4024312" cy="1119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b="1" sz="2100" i="0" u="none">
                <a:solidFill>
                  <a:srgbClr val="1E3A8A"/>
                </a:solidFill>
                <a:latin typeface="Inter"/>
              </a:rPr>
              <a:t>"I eliminate manual workflows to accelerate our product release cycles."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2114550"/>
            <a:ext cx="7620000" cy="4181475"/>
          </a:xfrm>
          <a:prstGeom prst="roundRect">
            <a:avLst>
              <a:gd name="adj" fmla="val 5466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86300" y="4933950"/>
            <a:ext cx="2819400" cy="885825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5133975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1637" y="561975"/>
            <a:ext cx="12287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SPRINT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5675" y="981075"/>
            <a:ext cx="5200650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0F172A"/>
                </a:solidFill>
                <a:latin typeface="Space Grotesk"/>
              </a:rPr>
              <a:t>The Value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8812" y="2590800"/>
            <a:ext cx="833437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0F172A"/>
                </a:solidFill>
                <a:latin typeface="Inter"/>
              </a:rPr>
              <a:t>Write your professional introduction in exactly two sentences.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1075" y="5086350"/>
            <a:ext cx="260985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EA580C"/>
                </a:solidFill>
                <a:latin typeface="Space Grotesk"/>
              </a:rPr>
              <a:t>05:00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7625" y="3448050"/>
            <a:ext cx="10477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2400" y="3448050"/>
            <a:ext cx="5619750" cy="3429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Constraint 1: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Zero technical jargon.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7625" y="3790950"/>
            <a:ext cx="10477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2400" y="3790950"/>
            <a:ext cx="5619750" cy="3429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Constraint 2: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Name the exact problem you solve.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7625" y="4133850"/>
            <a:ext cx="10477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4133850"/>
            <a:ext cx="5619750" cy="3429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500" i="0" u="none">
                <a:solidFill>
                  <a:srgbClr val="475569"/>
                </a:solidFill>
                <a:latin typeface="Inter"/>
              </a:rPr>
              <a:t>Constraint 3: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State the business impact.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95475"/>
            <a:ext cx="5372100" cy="2162175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895475"/>
            <a:ext cx="5372100" cy="2162175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286250"/>
            <a:ext cx="5372100" cy="1962150"/>
          </a:xfrm>
          <a:prstGeom prst="roundRect">
            <a:avLst>
              <a:gd name="adj" fmla="val 77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286250"/>
            <a:ext cx="5372100" cy="1962150"/>
          </a:xfrm>
          <a:prstGeom prst="roundRect">
            <a:avLst>
              <a:gd name="adj" fmla="val 77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276475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2276475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4667250"/>
            <a:ext cx="2571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4667250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91575" y="1238250"/>
            <a:ext cx="34004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Pick ONE archetype for Sprint 02.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9600"/>
            <a:ext cx="6846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VOCAL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52500"/>
            <a:ext cx="7188398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Select Your Engineering 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2657475"/>
            <a:ext cx="605075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The Simplifier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114675"/>
            <a:ext cx="4705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Translates complex systems into highly accessible concepts.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2657475"/>
            <a:ext cx="56007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The Visionary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3114675"/>
            <a:ext cx="5600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Focuses entirely on future scalability and architecture.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5048250"/>
            <a:ext cx="605075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The Pragmatist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5505450"/>
            <a:ext cx="5762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Prioritizes raw stability, speed, and execution reality.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300" y="5048250"/>
            <a:ext cx="56007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The Educator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1300" y="5505450"/>
            <a:ext cx="5600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Elevates the wider team through shared knowledge.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991867"/>
            <a:ext cx="5486400" cy="6572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991867"/>
            <a:ext cx="38100" cy="6572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158680"/>
            <a:ext cx="38100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265932"/>
            <a:ext cx="6858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SPRINT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608832"/>
            <a:ext cx="72009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Voice in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106292"/>
            <a:ext cx="6324600" cy="4857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3000" i="0" u="none">
                <a:solidFill>
                  <a:srgbClr val="EA580C"/>
                </a:solidFill>
                <a:latin typeface="Space Grotesk"/>
              </a:rPr>
              <a:t>07:00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570857"/>
            <a:ext cx="72009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The Scenario: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970907"/>
            <a:ext cx="55816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475569"/>
                </a:solidFill>
                <a:latin typeface="Inter"/>
              </a:rPr>
              <a:t>Write a 3-line project update intended for non-technical leadership.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220467"/>
            <a:ext cx="6238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Constraint: Embody your chosen archetype strictly.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955750" y="32766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15000" y="32766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74249" y="32766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381000" y="609600"/>
            <a:ext cx="1295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Inter"/>
              </a:rPr>
              <a:t>SPRINT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381000" y="952500"/>
            <a:ext cx="129540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Space Grotesk"/>
              </a:rPr>
              <a:t>The Peer Teardown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2875" y="3276600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400" i="0" u="none">
                <a:solidFill>
                  <a:srgbClr val="2563EB"/>
                </a:solidFill>
                <a:latin typeface="Space Grotes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1682" y="4267200"/>
            <a:ext cx="109013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Deliver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793" y="4714875"/>
            <a:ext cx="43180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Read your 2-sentence value pitch aloud to your partner.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2125" y="3276600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400" i="0" u="none">
                <a:solidFill>
                  <a:srgbClr val="2563EB"/>
                </a:solidFill>
                <a:latin typeface="Space Grotes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5938" y="4267200"/>
            <a:ext cx="98012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7043" y="4714875"/>
            <a:ext cx="43180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Partner rates clarity and impact on a 1–10 scale instantly.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1374" y="3276600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2400" i="0" u="none">
                <a:solidFill>
                  <a:srgbClr val="2563EB"/>
                </a:solidFill>
                <a:latin typeface="Space Grotes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0181" y="4267200"/>
            <a:ext cx="109013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Iterate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93" y="4714875"/>
            <a:ext cx="43180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Identify the weak words. Adjust. Swap roles.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100512"/>
            <a:ext cx="1714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557712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014912"/>
            <a:ext cx="17145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0" y="1647825"/>
            <a:ext cx="6096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580C"/>
                </a:solidFill>
                <a:latin typeface="Inter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1990725"/>
            <a:ext cx="5860732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The 24-Hour Commitment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3609975"/>
            <a:ext cx="609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75569"/>
                </a:solidFill>
                <a:latin typeface="Inter"/>
              </a:rPr>
              <a:t>Pick ONE action. Execute it by tomorrow.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4067175"/>
            <a:ext cx="4881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Update your internal directory or Slack bio.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850" y="4524375"/>
            <a:ext cx="5000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Send one highly opinionated project update.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850" y="4981575"/>
            <a:ext cx="49410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Schedule one cross-functional coffee chat.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041326"/>
            <a:ext cx="4572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0296" y="3031926"/>
            <a:ext cx="11251406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b="1" sz="4200" i="0" u="none">
                <a:solidFill>
                  <a:srgbClr val="F8FAFC"/>
                </a:solidFill>
                <a:latin typeface="Space Grotesk"/>
              </a:rPr>
              <a:t>Build the brand before you need the leverage.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63640" y="4540448"/>
            <a:ext cx="34647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Questions? Let's discuss.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4512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Space Grotesk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52512"/>
            <a:ext cx="952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https://media.easy-peasy.ai/84ce6172-720b-4906-a396-7461f0331fdc/ed9bf315-4610-4ad6-9b53-45845b37d6eb_medium.webp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52537"/>
            <a:ext cx="1976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easy-peasy.ai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78117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https://media.istockphoto.com/id/2251569087/photo/collaborative-team-meeting-in-a-modern-office-environment.jpg?s=612x612&amp;w=0&amp;k=20&amp;c=Rram22KoNohFZjWeah_YybkCBnsSb6tP6ZI280i-DHQ=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133600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