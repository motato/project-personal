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Ubuntu" panose="020B0504030602030204" pitchFamily="34" charset="0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4551908"/>
            <a:ext cx="3048000" cy="57150"/>
          </a:xfrm>
          <a:prstGeom prst="rect">
            <a:avLst/>
          </a:prstGeom>
          <a:solidFill>
            <a:srgbClr val="0C8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8080" y="381000"/>
            <a:ext cx="2112764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Ubuntu"/>
              </a:rPr>
              <a:t>Capgemini</a:t>
            </a:r>
            <a:r>
              <a:rPr sz="2400" b="1" i="0" u="none">
                <a:solidFill>
                  <a:srgbClr val="1DB8F2"/>
                </a:solidFill>
                <a:latin typeface="Ubuntu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7265" y="2248792"/>
            <a:ext cx="6417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DB8F2"/>
                </a:solidFill>
                <a:latin typeface="Ubuntu"/>
              </a:rPr>
              <a:t>TALLER INTERACTIVO • 120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6401" y="2601217"/>
            <a:ext cx="5979201" cy="8463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s-MX" sz="6000" b="1" i="0" u="none" dirty="0">
                <a:solidFill>
                  <a:srgbClr val="FFFFFF"/>
                </a:solidFill>
                <a:latin typeface="Ubuntu"/>
              </a:rPr>
              <a:t>Conceptos de </a:t>
            </a:r>
            <a:r>
              <a:rPr sz="6000" b="1" i="0" u="none" dirty="0">
                <a:solidFill>
                  <a:srgbClr val="FFFFFF"/>
                </a:solidFill>
                <a:latin typeface="Ubuntu"/>
              </a:rPr>
              <a:t>I</a:t>
            </a:r>
            <a:r>
              <a:rPr lang="es-MX" sz="6000" b="1" i="0" u="none" dirty="0">
                <a:solidFill>
                  <a:srgbClr val="FFFFFF"/>
                </a:solidFill>
                <a:latin typeface="Ubuntu"/>
              </a:rPr>
              <a:t>A</a:t>
            </a:r>
            <a:endParaRPr sz="6000" b="1" i="0" u="none" dirty="0">
              <a:solidFill>
                <a:srgbClr val="FFFFFF"/>
              </a:solidFill>
              <a:latin typeface="Ubuntu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87265" y="3668017"/>
            <a:ext cx="6417468" cy="426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0" i="0" u="none">
                <a:solidFill>
                  <a:srgbClr val="FFFFFF"/>
                </a:solidFill>
                <a:latin typeface="Ubuntu"/>
              </a:rPr>
              <a:t>Habilidades para el Futuro del Trabajo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62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MAPA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14425"/>
            <a:ext cx="115824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La Sesión de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653605"/>
            <a:ext cx="10210800" cy="38100"/>
          </a:xfrm>
          <a:prstGeom prst="rect">
            <a:avLst/>
          </a:prstGeom>
          <a:solidFill>
            <a:srgbClr val="0C8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14450" y="25012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2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29025" y="25012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5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0" y="25012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D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58175" y="25012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72750" y="25012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5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287" y="3034605"/>
            <a:ext cx="214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Ubuntu"/>
              </a:rPr>
              <a:t>PRESENTADOR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709" y="3282255"/>
            <a:ext cx="225028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Apertura &amp; Impacto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287" y="3910905"/>
            <a:ext cx="2143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(15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9862" y="3034605"/>
            <a:ext cx="214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Ubuntu"/>
              </a:rPr>
              <a:t>PRESENTADOR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6284" y="3282255"/>
            <a:ext cx="225028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Fundamentos de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9862" y="3910905"/>
            <a:ext cx="2143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(20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4437" y="3034605"/>
            <a:ext cx="214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Ubuntu"/>
              </a:rPr>
              <a:t>PRESENTADOR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0859" y="3282255"/>
            <a:ext cx="225028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IA Generativa &amp;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4437" y="3910905"/>
            <a:ext cx="2143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(25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9012" y="3034605"/>
            <a:ext cx="214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Ubuntu"/>
              </a:rPr>
              <a:t>PRESENTADOR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5434" y="3282255"/>
            <a:ext cx="225028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Agentes Autónomos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9012" y="3910905"/>
            <a:ext cx="2143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(25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3587" y="3034605"/>
            <a:ext cx="214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Ubuntu"/>
              </a:rPr>
              <a:t>PRESENTADOR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0009" y="3282255"/>
            <a:ext cx="225028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Carreras &amp; Ética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3587" y="3653730"/>
            <a:ext cx="2143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(35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094684"/>
            <a:ext cx="5486400" cy="13335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094684"/>
            <a:ext cx="38100" cy="1333500"/>
          </a:xfrm>
          <a:prstGeom prst="rect">
            <a:avLst/>
          </a:prstGeom>
          <a:solidFill>
            <a:srgbClr val="1D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64208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632769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501330"/>
            <a:ext cx="19050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29815"/>
            <a:ext cx="685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PRESENTADOR 1 • IMPACTO INICIAL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2240"/>
            <a:ext cx="72009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Ficción vs. Realidad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711821"/>
            <a:ext cx="52387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00" b="1" i="0" u="none">
                <a:solidFill>
                  <a:srgbClr val="0058AB"/>
                </a:solidFill>
                <a:latin typeface="Ubuntu"/>
              </a:rPr>
              <a:t>Expectativa (Cine): Máquinas conscientes tomando el control total.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580382"/>
            <a:ext cx="52387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00" b="1" i="0" u="none">
                <a:solidFill>
                  <a:srgbClr val="0058AB"/>
                </a:solidFill>
                <a:latin typeface="Ubuntu"/>
              </a:rPr>
              <a:t>Realidad Corporativa: Reconocimiento de patrones basados en datos.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448942"/>
            <a:ext cx="523875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00" b="1" i="0" u="none">
                <a:solidFill>
                  <a:srgbClr val="0058AB"/>
                </a:solidFill>
                <a:latin typeface="Ubuntu"/>
              </a:rPr>
              <a:t>El Cambio Real: La IA funciona como un acelerador de productividad, no como un reemplazo humano.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323284"/>
            <a:ext cx="6238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58AB"/>
                </a:solidFill>
                <a:latin typeface="Ubuntu"/>
              </a:rPr>
              <a:t>El Dato Clave (2026)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5628084"/>
            <a:ext cx="50863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21A38"/>
                </a:solidFill>
                <a:latin typeface="Ubuntu"/>
              </a:rPr>
              <a:t>El 65% de los equipos de alto rendimiento ya integran herramientas generativas diarias.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631727"/>
            <a:ext cx="3155900" cy="3105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17975" y="2631727"/>
            <a:ext cx="3155900" cy="3105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26350" y="2631727"/>
            <a:ext cx="3155900" cy="3105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727352"/>
            <a:ext cx="31559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31727"/>
            <a:ext cx="3155900" cy="38100"/>
          </a:xfrm>
          <a:prstGeom prst="rect">
            <a:avLst/>
          </a:prstGeom>
          <a:solidFill>
            <a:srgbClr val="12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31727"/>
            <a:ext cx="9525" cy="3105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55975" y="2631727"/>
            <a:ext cx="9525" cy="3105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17975" y="5727352"/>
            <a:ext cx="31559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17975" y="2631727"/>
            <a:ext cx="3155900" cy="38100"/>
          </a:xfrm>
          <a:prstGeom prst="rect">
            <a:avLst/>
          </a:prstGeom>
          <a:solidFill>
            <a:srgbClr val="005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17975" y="2631727"/>
            <a:ext cx="9525" cy="3105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64350" y="2631727"/>
            <a:ext cx="9525" cy="3105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26350" y="5727352"/>
            <a:ext cx="31559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26350" y="2631727"/>
            <a:ext cx="3155900" cy="38100"/>
          </a:xfrm>
          <a:prstGeom prst="rect">
            <a:avLst/>
          </a:prstGeom>
          <a:solidFill>
            <a:srgbClr val="1D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26350" y="2631727"/>
            <a:ext cx="9525" cy="3105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726" y="2631727"/>
            <a:ext cx="9525" cy="3105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4070002"/>
            <a:ext cx="1428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675" y="4070002"/>
            <a:ext cx="1428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165127"/>
            <a:ext cx="381000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300" y="3165127"/>
            <a:ext cx="333375" cy="381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0675" y="3165127"/>
            <a:ext cx="476250" cy="381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-381000" y="762000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Ubuntu"/>
              </a:rPr>
              <a:t>PRESENTADOR 2 • FUNDAMENTOS SIN JERGA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381000" y="1114425"/>
            <a:ext cx="12954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El Espectro de la Autonomía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3889027"/>
            <a:ext cx="331701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21A38"/>
                </a:solidFill>
                <a:latin typeface="Ubuntu"/>
              </a:rPr>
              <a:t>1. El Modelo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4308127"/>
            <a:ext cx="3159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58AB"/>
                </a:solidFill>
                <a:latin typeface="Ubuntu"/>
              </a:rPr>
              <a:t>EL MOTOR EN BRUTO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4660552"/>
            <a:ext cx="2622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21A38"/>
                </a:solidFill>
                <a:latin typeface="Ubuntu"/>
              </a:rPr>
              <a:t>Potencia de cálculo puro. Redes neuronales base (GPT, Gemini) sin interfaz.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2300" y="3889027"/>
            <a:ext cx="331701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21A38"/>
                </a:solidFill>
                <a:latin typeface="Ubuntu"/>
              </a:rPr>
              <a:t>2. El Asistente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2300" y="4308127"/>
            <a:ext cx="3159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COCHE CON CONDUCTOR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2300" y="4660552"/>
            <a:ext cx="2622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21A38"/>
                </a:solidFill>
                <a:latin typeface="Ubuntu"/>
              </a:rPr>
              <a:t>Herramientas conversacionales que requieren órdenes humanas paso a paso.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0675" y="3889027"/>
            <a:ext cx="331701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21A38"/>
                </a:solidFill>
                <a:latin typeface="Ubuntu"/>
              </a:rPr>
              <a:t>3. El Agente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0675" y="4308127"/>
            <a:ext cx="3159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VEHÍCULO AUTÓNOMO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0675" y="4660552"/>
            <a:ext cx="2622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21A38"/>
                </a:solidFill>
                <a:latin typeface="Ubuntu"/>
              </a:rPr>
              <a:t>Sistemas que planifican y ejecutan tareas de múltiples pasos de forma independiente.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63788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37883" y="0"/>
            <a:ext cx="5554116" cy="6858000"/>
          </a:xfrm>
          <a:prstGeom prst="rect">
            <a:avLst/>
          </a:prstGeom>
          <a:solidFill>
            <a:srgbClr val="12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245173"/>
            <a:ext cx="5418683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245173"/>
            <a:ext cx="38100" cy="914400"/>
          </a:xfrm>
          <a:prstGeom prst="rect">
            <a:avLst/>
          </a:prstGeom>
          <a:solidFill>
            <a:srgbClr val="005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483" y="1898451"/>
            <a:ext cx="4334916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483" y="4422576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483" y="4776787"/>
            <a:ext cx="1143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1698426"/>
            <a:ext cx="67733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CÓMO FUNCIONAN LOS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050851"/>
            <a:ext cx="7112021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El Motor de Predicción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980432"/>
            <a:ext cx="5513933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121A38"/>
                </a:solidFill>
                <a:latin typeface="Ubuntu"/>
              </a:rPr>
              <a:t>Los Modelos de Lenguaje no "piensan". Calculan estadísticamente la siguiente palabra más probable basándose en inmensas bases de datos.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73773"/>
            <a:ext cx="505673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21A38"/>
                </a:solidFill>
                <a:latin typeface="monospace"/>
              </a:rPr>
              <a:t>El rápido zorro marrón salta sobre el perro </a:t>
            </a:r>
            <a:r>
              <a:rPr sz="1500" b="1" i="0" u="none">
                <a:solidFill>
                  <a:srgbClr val="0F172A"/>
                </a:solidFill>
                <a:latin typeface="monospace"/>
              </a:rPr>
              <a:t>[perezoso]</a:t>
            </a:r>
            <a:r>
              <a:rPr sz="1500" b="0" i="0" u="none">
                <a:solidFill>
                  <a:srgbClr val="121A38"/>
                </a:solidFill>
                <a:latin typeface="monospace"/>
              </a:rPr>
              <a:t>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7483" y="2584251"/>
            <a:ext cx="4944516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Ubuntu"/>
              </a:rPr>
              <a:t>¿Por qué Alucina la 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7483" y="3127176"/>
            <a:ext cx="4430166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Ubuntu"/>
              </a:rPr>
              <a:t>Ante la falta de datos exactos, el modelo inventa patrones altamente probables, pero fácticamente incorrectos.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5133" y="4365426"/>
            <a:ext cx="4696866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>
                <a:solidFill>
                  <a:srgbClr val="1DB8F2"/>
                </a:solidFill>
                <a:latin typeface="Ubuntu"/>
              </a:rPr>
              <a:t>Suena muy convincente.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6083" y="4719637"/>
            <a:ext cx="4715916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>
                <a:solidFill>
                  <a:srgbClr val="FF816E"/>
                </a:solidFill>
                <a:latin typeface="Ubuntu"/>
              </a:rPr>
              <a:t>Carece de base fáctica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72605"/>
            <a:ext cx="5257800" cy="3966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4600" y="2272605"/>
            <a:ext cx="5257800" cy="39661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229201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72605"/>
            <a:ext cx="5257800" cy="38100"/>
          </a:xfrm>
          <a:prstGeom prst="rect">
            <a:avLst/>
          </a:prstGeom>
          <a:solidFill>
            <a:srgbClr val="8F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272605"/>
            <a:ext cx="9525" cy="39661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7875" y="2272605"/>
            <a:ext cx="9525" cy="39661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0125" y="4215705"/>
            <a:ext cx="4476750" cy="15372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24600" y="6229201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24600" y="2272605"/>
            <a:ext cx="5257800" cy="38100"/>
          </a:xfrm>
          <a:prstGeom prst="rect">
            <a:avLst/>
          </a:prstGeom>
          <a:solidFill>
            <a:srgbClr val="005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4600" y="2272605"/>
            <a:ext cx="9525" cy="39661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2272605"/>
            <a:ext cx="9525" cy="39661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15125" y="4310955"/>
            <a:ext cx="4476750" cy="15372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0125" y="4215705"/>
            <a:ext cx="447675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15125" y="4310955"/>
            <a:ext cx="447675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710755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710755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4877692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5228183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5578673"/>
            <a:ext cx="1047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4953892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5304383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5654873"/>
            <a:ext cx="114300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762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PRESENTADOR 3 • IA GENERATIVA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381000" y="1114425"/>
            <a:ext cx="12954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Anatomía del Prompt Perfecto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3225105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121A38"/>
                </a:solidFill>
                <a:latin typeface="Ubuntu"/>
              </a:rPr>
              <a:t>"Escribe un post de LinkedIn sobre Inteligencia Artificial."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3225105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21A38"/>
                </a:solidFill>
                <a:latin typeface="Ubuntu"/>
              </a:rPr>
              <a:t>"Actúa como un líder técnico. Escribe un resumen de 3 párrafos sobre agentes autónomos para jóvenes profesionales. Tono ágil y directo."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9225" y="2691705"/>
            <a:ext cx="193774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21A38"/>
                </a:solidFill>
                <a:latin typeface="Ubuntu"/>
              </a:rPr>
              <a:t>Prompt Débil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125" y="4453830"/>
            <a:ext cx="5595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F3237"/>
                </a:solidFill>
                <a:latin typeface="Ubuntu"/>
              </a:rPr>
              <a:t>FALTA DE CONTEXTO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4225" y="2691705"/>
            <a:ext cx="306288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21A38"/>
                </a:solidFill>
                <a:latin typeface="Ubuntu"/>
              </a:rPr>
              <a:t>Prompt Estructurado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5125" y="4549080"/>
            <a:ext cx="547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8AB"/>
                </a:solidFill>
                <a:latin typeface="Ubuntu"/>
              </a:rPr>
              <a:t>FÓRMULA DEL ÉXITO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125" y="4777680"/>
            <a:ext cx="5595937" cy="27429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21A38"/>
                </a:solidFill>
                <a:latin typeface="Ubuntu"/>
              </a:rPr>
              <a:t>Sin rol definido.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125" y="5128170"/>
            <a:ext cx="5595937" cy="27429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21A38"/>
                </a:solidFill>
                <a:latin typeface="Ubuntu"/>
              </a:rPr>
              <a:t>Sin audiencia objetivo.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125" y="5478660"/>
            <a:ext cx="5595937" cy="27429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21A38"/>
                </a:solidFill>
                <a:latin typeface="Ubuntu"/>
              </a:rPr>
              <a:t>Sin restricciones de longitud o tono.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5125" y="4872930"/>
            <a:ext cx="5476875" cy="27429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21A38"/>
                </a:solidFill>
                <a:latin typeface="Ubuntu"/>
              </a:rPr>
              <a:t>Rol: Líder técnico.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5125" y="5223420"/>
            <a:ext cx="5476875" cy="27429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21A38"/>
                </a:solidFill>
                <a:latin typeface="Ubuntu"/>
              </a:rPr>
              <a:t>Audiencia: Jóvenes profesionales.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5125" y="5573910"/>
            <a:ext cx="5476875" cy="27429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21A38"/>
                </a:solidFill>
                <a:latin typeface="Ubuntu"/>
              </a:rPr>
              <a:t>Restricciones: 3 párrafos, tono ágil.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431827"/>
            <a:ext cx="4572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58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250977"/>
            <a:ext cx="4572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DB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070127"/>
            <a:ext cx="4572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302097"/>
            <a:ext cx="685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APLICACIÓN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54522"/>
            <a:ext cx="72009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Laboratorio en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31702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21A38"/>
                </a:solidFill>
                <a:latin typeface="Ubuntu"/>
              </a:rPr>
              <a:t>Construyamos en tiempo real. Participación de la audiencia requerida.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43182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058AB"/>
                </a:solidFill>
                <a:latin typeface="Ubuntu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425097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Ubuntu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507012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Ubuntu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403252"/>
            <a:ext cx="403800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21A38"/>
                </a:solidFill>
                <a:latin typeface="Ubuntu"/>
              </a:rPr>
              <a:t>Resumen Curricular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3708052"/>
            <a:ext cx="384571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21A38"/>
                </a:solidFill>
                <a:latin typeface="Ubuntu"/>
              </a:rPr>
              <a:t>Transformando viñetas en un perfil ejecutivo.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222402"/>
            <a:ext cx="35129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21A38"/>
                </a:solidFill>
                <a:latin typeface="Ubuntu"/>
              </a:rPr>
              <a:t>Post en Redes Sociales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4527202"/>
            <a:ext cx="334565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21A38"/>
                </a:solidFill>
                <a:latin typeface="Ubuntu"/>
              </a:rPr>
              <a:t>Redacción ágil y atractiva para LinkedIn.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5041552"/>
            <a:ext cx="378797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21A38"/>
                </a:solidFill>
                <a:latin typeface="Ubuntu"/>
              </a:rPr>
              <a:t>Generación de Imágenes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5346352"/>
            <a:ext cx="36075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21A38"/>
                </a:solidFill>
                <a:latin typeface="Ubuntu"/>
              </a:rPr>
              <a:t>De un concepto en texto a un activo visual.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19750" y="2062162"/>
            <a:ext cx="952500" cy="9525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1DB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2347912"/>
            <a:ext cx="47625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48125" y="1709737"/>
            <a:ext cx="4095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DB8F2"/>
                </a:solidFill>
                <a:latin typeface="Ubuntu"/>
              </a:rPr>
              <a:t>PRESENTADOR 4 • LA PRÓXIMA 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6691" y="3319462"/>
            <a:ext cx="8938617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Ubuntu"/>
              </a:rPr>
              <a:t>La Era de la IA Agéntica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294733"/>
            <a:ext cx="952500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0" i="0" u="none">
                <a:solidFill>
                  <a:srgbClr val="FFFFFF"/>
                </a:solidFill>
                <a:latin typeface="Ubuntu"/>
              </a:rPr>
              <a:t>Pasamos de una IA que </a:t>
            </a:r>
            <a:r>
              <a:rPr sz="2400" b="1" i="0" u="none">
                <a:solidFill>
                  <a:srgbClr val="1DB8F2"/>
                </a:solidFill>
                <a:latin typeface="Ubuntu"/>
              </a:rPr>
              <a:t>genera contenido</a:t>
            </a:r>
            <a:r>
              <a:rPr sz="2400" b="0" i="0" u="none">
                <a:solidFill>
                  <a:srgbClr val="FFFFFF"/>
                </a:solidFill>
                <a:latin typeface="Ubuntu"/>
              </a:rPr>
              <a:t> a una IA que </a:t>
            </a:r>
            <a:r>
              <a:rPr sz="2400" b="1" i="0" u="none">
                <a:solidFill>
                  <a:srgbClr val="00D5DD"/>
                </a:solidFill>
                <a:latin typeface="Ubuntu"/>
              </a:rPr>
              <a:t>ejecuta flujos de trabajo</a:t>
            </a:r>
            <a:r>
              <a:rPr sz="2400" b="0" i="0" u="none">
                <a:solidFill>
                  <a:srgbClr val="FFFFFF"/>
                </a:solidFill>
                <a:latin typeface="Ubuntu"/>
              </a:rPr>
              <a:t> junto a equipos humanos.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0750" y="2603152"/>
            <a:ext cx="2667000" cy="127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190750" y="4260502"/>
            <a:ext cx="2667000" cy="127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34250" y="2393602"/>
            <a:ext cx="2667000" cy="1485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34250" y="4260502"/>
            <a:ext cx="2667000" cy="1485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90750" y="3869977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90750" y="2603152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0750" y="2603152"/>
            <a:ext cx="9525" cy="127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19650" y="2603152"/>
            <a:ext cx="38100" cy="1276350"/>
          </a:xfrm>
          <a:prstGeom prst="rect">
            <a:avLst/>
          </a:prstGeom>
          <a:solidFill>
            <a:srgbClr val="005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0750" y="5527327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90750" y="4260502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90750" y="4260502"/>
            <a:ext cx="9525" cy="127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19650" y="4260502"/>
            <a:ext cx="38100" cy="1276350"/>
          </a:xfrm>
          <a:prstGeom prst="rect">
            <a:avLst/>
          </a:prstGeom>
          <a:solidFill>
            <a:srgbClr val="1D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34250" y="3869977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34250" y="2393602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34250" y="2393602"/>
            <a:ext cx="38100" cy="1485900"/>
          </a:xfrm>
          <a:prstGeom prst="rect">
            <a:avLst/>
          </a:prstGeom>
          <a:solidFill>
            <a:srgbClr val="1D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91725" y="2393602"/>
            <a:ext cx="9525" cy="14859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34250" y="5736877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34250" y="4260502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34250" y="4260502"/>
            <a:ext cx="38100" cy="1485900"/>
          </a:xfrm>
          <a:prstGeom prst="rect">
            <a:avLst/>
          </a:prstGeom>
          <a:solidFill>
            <a:srgbClr val="0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91725" y="4260502"/>
            <a:ext cx="9525" cy="14859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3212752"/>
            <a:ext cx="571500" cy="1714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12752"/>
            <a:ext cx="571500" cy="1714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-381000" y="762000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Ubuntu"/>
              </a:rPr>
              <a:t>COLABORACIÓN HUMANO +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381000" y="1114425"/>
            <a:ext cx="12954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Cuatro Formas de Trabajo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3195" y="2841277"/>
            <a:ext cx="283785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800" b="1" i="0" u="none">
                <a:solidFill>
                  <a:srgbClr val="121A38"/>
                </a:solidFill>
                <a:latin typeface="Ubuntu"/>
              </a:rPr>
              <a:t>Autor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3625" y="3222277"/>
            <a:ext cx="22574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121A38"/>
                </a:solidFill>
                <a:latin typeface="Ubuntu"/>
              </a:rPr>
              <a:t>La IA redacta un borrador; el humano revisa y finaliza.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3195" y="4498627"/>
            <a:ext cx="283785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800" b="1" i="0" u="none">
                <a:solidFill>
                  <a:srgbClr val="121A38"/>
                </a:solidFill>
                <a:latin typeface="Ubuntu"/>
              </a:rPr>
              <a:t>Editor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3625" y="4879627"/>
            <a:ext cx="22574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121A38"/>
                </a:solidFill>
                <a:latin typeface="Ubuntu"/>
              </a:rPr>
              <a:t>El humano define la estructura base; la IA pule y da formato.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0950" y="2631727"/>
            <a:ext cx="283785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21A38"/>
                </a:solidFill>
                <a:latin typeface="Ubuntu"/>
              </a:rPr>
              <a:t>Director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0950" y="3012727"/>
            <a:ext cx="22574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21A38"/>
                </a:solidFill>
                <a:latin typeface="Ubuntu"/>
              </a:rPr>
              <a:t>El humano define la visión y tareas; la IA ejecuta autónomamente.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0950" y="4498627"/>
            <a:ext cx="283785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21A38"/>
                </a:solidFill>
                <a:latin typeface="Ubuntu"/>
              </a:rPr>
              <a:t>Orquestador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0950" y="4879627"/>
            <a:ext cx="22574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21A38"/>
                </a:solidFill>
                <a:latin typeface="Ubuntu"/>
              </a:rPr>
              <a:t>El humano coordina y supervisa múltiples agentes especializados.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29250" y="3403252"/>
            <a:ext cx="1333500" cy="1333500"/>
          </a:xfrm>
          <a:prstGeom prst="roundRect">
            <a:avLst>
              <a:gd name="adj" fmla="val 35714"/>
            </a:avLst>
          </a:prstGeom>
          <a:solidFill>
            <a:srgbClr val="12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690937"/>
            <a:ext cx="30480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10225" y="4071937"/>
            <a:ext cx="971550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sz="1350" b="1" i="0" u="none">
                <a:solidFill>
                  <a:srgbClr val="FFFFFF"/>
                </a:solidFill>
                <a:latin typeface="Ubuntu"/>
              </a:rPr>
              <a:t>Control</a:t>
            </a:r>
            <a:r>
              <a:t>
</a:t>
            </a:r>
            <a:r>
              <a:rPr sz="1350" b="1" i="0" u="none">
                <a:solidFill>
                  <a:srgbClr val="FFFFFF"/>
                </a:solidFill>
                <a:latin typeface="Ubuntu"/>
              </a:rPr>
              <a:t> Humano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212" y="2234654"/>
            <a:ext cx="409575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212" y="4732883"/>
            <a:ext cx="22860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87" y="4732883"/>
            <a:ext cx="2857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987" y="4732883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71975" y="1882229"/>
            <a:ext cx="4310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PRESENTADOR 5 • CARRERAS Y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2920454"/>
            <a:ext cx="10001250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La IA no te reemplazará. Una persona usando IA sí lo hará.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212" y="4718595"/>
            <a:ext cx="227409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21A38"/>
                </a:solidFill>
                <a:latin typeface="Ubuntu"/>
              </a:rPr>
              <a:t>Privacidad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1637" y="4718595"/>
            <a:ext cx="20716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21A38"/>
                </a:solidFill>
                <a:latin typeface="Ubuntu"/>
              </a:rPr>
              <a:t>Control de Sesgos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9562" y="4718595"/>
            <a:ext cx="225028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21A38"/>
                </a:solidFill>
                <a:latin typeface="Ubuntu"/>
              </a:rPr>
              <a:t>Humano en el Bucle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62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Ubuntu"/>
              </a:rPr>
              <a:t>PLAN DE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14425"/>
            <a:ext cx="115824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21A38"/>
                </a:solidFill>
                <a:latin typeface="Ubuntu"/>
              </a:rPr>
              <a:t>Tu Pila de Habilidades Futuras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806005"/>
            <a:ext cx="10210800" cy="38100"/>
          </a:xfrm>
          <a:prstGeom prst="rect">
            <a:avLst/>
          </a:prstGeom>
          <a:solidFill>
            <a:srgbClr val="0C8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52550" y="250120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21A3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1550" y="250120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58A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70551" y="250120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DB8F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29552" y="250120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D5DD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9675" y="250120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178" y="333940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Definir 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662" y="3710880"/>
            <a:ext cx="26193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Articular claramente qué éxito se espera de la 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8675" y="250120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1178" y="333940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Entender Procesos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6663" y="3710880"/>
            <a:ext cx="2619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Mapear los pasos lógicos requeridos para alcanzar la meta.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7676" y="250120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Ubuntu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0179" y="333940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Verificar Resultados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5664" y="3710880"/>
            <a:ext cx="2619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Revisar críticamente y auditar las salidas generadas por la máquina.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6677" y="250120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Ubuntu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9180" y="333940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21A38"/>
                </a:solidFill>
                <a:latin typeface="Ubuntu"/>
              </a:rPr>
              <a:t>Evaluar Riesgos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4664" y="3710880"/>
            <a:ext cx="2619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21A38"/>
                </a:solidFill>
                <a:latin typeface="Ubuntu"/>
              </a:rPr>
              <a:t>Analizar la seguridad de los datos, la privacidad y los sesgos sistémicos.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2703165"/>
            <a:ext cx="5486400" cy="638175"/>
          </a:xfrm>
          <a:prstGeom prst="rect">
            <a:avLst/>
          </a:prstGeom>
          <a:solidFill>
            <a:srgbClr val="1E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0" y="3569940"/>
            <a:ext cx="5486400" cy="638175"/>
          </a:xfrm>
          <a:prstGeom prst="rect">
            <a:avLst/>
          </a:prstGeom>
          <a:solidFill>
            <a:srgbClr val="1E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0" y="4436715"/>
            <a:ext cx="5486400" cy="638175"/>
          </a:xfrm>
          <a:prstGeom prst="rect">
            <a:avLst/>
          </a:prstGeom>
          <a:solidFill>
            <a:srgbClr val="1E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0" y="5303490"/>
            <a:ext cx="5486400" cy="638175"/>
          </a:xfrm>
          <a:prstGeom prst="rect">
            <a:avLst/>
          </a:prstGeom>
          <a:solidFill>
            <a:srgbClr val="1E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0" y="2703165"/>
            <a:ext cx="38100" cy="638175"/>
          </a:xfrm>
          <a:prstGeom prst="rect">
            <a:avLst/>
          </a:prstGeom>
          <a:solidFill>
            <a:srgbClr val="005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0" y="3569940"/>
            <a:ext cx="38100" cy="638175"/>
          </a:xfrm>
          <a:prstGeom prst="rect">
            <a:avLst/>
          </a:prstGeom>
          <a:solidFill>
            <a:srgbClr val="1D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0" y="4436715"/>
            <a:ext cx="38100" cy="638175"/>
          </a:xfrm>
          <a:prstGeom prst="rect">
            <a:avLst/>
          </a:prstGeom>
          <a:solidFill>
            <a:srgbClr val="0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0" y="5303490"/>
            <a:ext cx="38100" cy="638175"/>
          </a:xfrm>
          <a:prstGeom prst="rect">
            <a:avLst/>
          </a:prstGeom>
          <a:solidFill>
            <a:srgbClr val="FF8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0" y="916334"/>
            <a:ext cx="6096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B8F2"/>
                </a:solidFill>
                <a:latin typeface="Ubuntu"/>
              </a:rPr>
              <a:t>INTERACTIVO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1268759"/>
            <a:ext cx="6096000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Ubuntu"/>
              </a:rPr>
              <a:t>Panel &amp; Preguntas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084040"/>
            <a:ext cx="6096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Ubuntu"/>
              </a:rPr>
              <a:t>Pregúntanos lo que sea. Temas para iniciar: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893665"/>
            <a:ext cx="58293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Ubuntu"/>
              </a:rPr>
              <a:t>¿Qué herramienta de IA usas más?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3760440"/>
            <a:ext cx="58293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Ubuntu"/>
              </a:rPr>
              <a:t>¿Cómo usas la IA en el trabajo actualmente?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4627215"/>
            <a:ext cx="58293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Ubuntu"/>
              </a:rPr>
              <a:t>¿Qué deberían aprender primero los estudiantes?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5493990"/>
            <a:ext cx="58293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Ubuntu"/>
              </a:rPr>
              <a:t>¿Certificaciones y planes de carrera recomendados?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62037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07525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21A38"/>
                </a:solidFill>
                <a:latin typeface="Ubuntu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19175"/>
            <a:ext cx="100488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21A38"/>
                </a:solidFill>
                <a:latin typeface="Ubuntu"/>
              </a:rPr>
              <a:t>https://media.istockphoto.com/id/2227426152/photo/focused-businesswoman-working-on-laptop-in-modern-office-with-plants.jpg?s=612x612&amp;w=0&amp;k=20&amp;c=HsU-45ppLcrulxEdzV7RFobv_Vpf7aV6snpyPiAtGX0=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90650"/>
            <a:ext cx="25360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21A38"/>
                </a:solidFill>
                <a:latin typeface="Ubuntu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Ubuntu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708</Words>
  <Application>Microsoft Office PowerPoint</Application>
  <PresentationFormat>Widescreen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monospace</vt:lpstr>
      <vt:lpstr>Arial</vt:lpstr>
      <vt:lpstr>Ubuntu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HERNAN IVAN MONTOYA MOTATO</cp:lastModifiedBy>
  <cp:revision>2</cp:revision>
  <dcterms:created xsi:type="dcterms:W3CDTF">2013-01-27T09:14:16Z</dcterms:created>
  <dcterms:modified xsi:type="dcterms:W3CDTF">2026-10-12T22:48:41Z</dcterms:modified>
  <cp:category/>
</cp:coreProperties>
</file>